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show="0"/>
    <p:sldId id="280" r:id="rId32" show="0"/>
    <p:sldId id="281" r:id="rId33" show="0"/>
    <p:sldId id="282" r:id="rId34" show="0"/>
    <p:sldId id="283" r:id="rId35" show="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seminar covers how formation damage forms during drilling, how we quantify it with skin, and what we can do about it. Fill in your name, supervisor, department and date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punchline: same reservoir, same drawdown, only skin differs — and the damaged well delivers less than half the rate. Everything that follows explains where skin 8.5 comes from and what to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questions frame the talk: how does damage form, how do we measure the loss, and what can we do about it? Stress that damage is invisible while drilling but shows up as lost rate once the well is on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near-well flow fundamentals, the mechanisms that create damage, quantification through skin, prevention and remediation, then economics and my graduation project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Flow converges into the well, so the pressure gradient is steepest right at the wellbore. About 30% of the drawdown from the drainage boundary is spent within 3 ft of the well — a tiny volume that controls inflow.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Skin is a dimensionless pressure-drop knob: positive means damage, zero is ideal, negative means stimulation. It converts everything happening near the wellbore into one extra pressure drop, which is why it is so useful.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equation. In the denominator, skin adds to the geometry term ln(re/rw) − 0.75, which is about 6.9 here — so a skin of roughly 7 doubles the resistance and halves the rate. Note that S is dimensionless.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Damage is not only a drilling problem: every stage from drilling to production can impair the near-wellbore zone. This talk focuses on drilling-fluid damage, the earliest and most preventable source.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Invasion is driven by overbalance: mud pressure above formation pressure. The sequence is spurt loss, then filtrate invasion, while a filter cake builds. Severity grows with overbalance and exposure time, and depends on mud properties and formation permeability.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solid-related mechanisms: mud solids bridge at the pore throats or invade deeper, and formation fines detach and migrate until they block a throat. Both can cause severe permeability loss that is hard to reverse.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Clay chemistry drives water sensitivity. Smectite swells, illite and kaolinite migrate as fines, chlorite releases iron when acidised. The fixes are inhibitive brines such as KCl and clay stabilisers.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Capillary forces trap filtrate in the pore space. A water block cuts the relative permeability to hydrocarbon, worst in low-permeability rock, where small pore throats give high capillary pressure — hence the equation.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Incompatible fluids can precipitate solids in the pore space: calcium carbonate, calcium sulphate, barium sulphate, and gels or sludges with acids or high-pH fluids. Run compatibility tests before pumping.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toolkit: pressure-buildup analysis gives total skin, offset-well comparison and production logging locate the loss, core flow tests give return permeability, and nodal analysis compares expected with actual rate. Note that test skin is total skin.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Hawkins' equation is the workhorse: the severity of the permeability reduction acts linearly and the depth of the damaged zone enters logarithmically. Two cautions: the model assumes a uniform cylindrical damaged zone, and well-test skin is total skin, not only damage.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with illustrative data: a permeability ratio of five over a 3 ft zone gives a skin of 8.55, which cuts the rate from 4,270 to 1,910 STB/d — 55% of productivity lost. The skin pressure drop is 553 psi of the 1,000 psi drawdown.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study: growing the damage radius from 3 to 5 ft moves flow efficiency from 0.45 to 0.39, while worsening severity from 2 to 10 moves it from 0.76 to 0.26. Severity dominates — so aim to recover permeability rather than to chase the last foot of penetration.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Prevention is really fluid design: bridging particles sized at about one third of the pore throats, acid-soluble carbonate bridging solids, low filtrate loss, inhibitive brines such as KCl, and minimum overbalance and exposure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must match the damage: acid for carbonate solids and scale, mud acid for clays and fines, solvents for organics, fracturing for deep or severe damage. Diagnose first — the wrong chemistry creates new damage.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Economics with assumed inputs: acidising takes skin from 8.55 to 2, adding 1,405 STB/d; at a $30 per barrel margin with half of the gain sustained, the job pays back in about 14 days. Add the HSE side: acid handling and flowback disposal.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graduation project: a spreadsheet or Python screening model that takes k, h, ks, rs and drawdown, applies Hawkins, predicts rate and flow efficiency, adds simple economics, and outputs a prevent / treat / ignore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conclusions. First: invasion damages by plugging, swelling and trapping. Second: a skin of 8.5 costs 55% of rate, and severity outweighs depth. Third: prevention beats remediation, and any treatment must match the damage type.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point to the reference list, and invite questions. Note that items 9 to 12 must come from your own literature table before submitting.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derivation of Hawkins' equation from two radial resistances in series — the damaged zone and the undamaged zone.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total test skin is the sum of damage, perforation, partial penetration, deviation and non-Darcy effects. Only the damage part can be removed by a damage treatment.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the Abrams bridging rule — bridging particles at about one third of the median pore-throat size, with enough solids to build the bridge.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increasing drawdown lifts both rates proportionally, so flow efficiency stays at 0.447 — you cannot produce your way out of damage.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a qualitative comparison of drilling-fluid families, with the main advantage and the main damage risk of each.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822960" y="932688"/>
            <a:ext cx="1417320" cy="82296"/>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22960" y="1353312"/>
            <a:ext cx="6949440" cy="2377440"/>
          </a:xfrm>
          <a:prstGeom prst="rect">
            <a:avLst/>
          </a:prstGeom>
          <a:noFill/>
        </p:spPr>
        <p:txBody>
          <a:bodyPr wrap="square" lIns="0" rIns="0" tIns="0" bIns="0" anchor="t">
            <a:spAutoFit/>
          </a:bodyPr>
          <a:lstStyle/>
          <a:p>
            <a:pPr algn="l">
              <a:lnSpc>
                <a:spcPct val="103000"/>
              </a:lnSpc>
              <a:spcBef>
                <a:spcPts val="0"/>
              </a:spcBef>
              <a:spcAft>
                <a:spcPts val="0"/>
              </a:spcAft>
            </a:pPr>
            <a:r>
              <a:rPr sz="3500" b="1" i="0">
                <a:solidFill>
                  <a:srgbClr val="0B2A4A"/>
                </a:solidFill>
                <a:latin typeface="Calibri"/>
              </a:rPr>
              <a:t>Formation Damage</a:t>
            </a:r>
          </a:p>
          <a:p>
            <a:pPr algn="l">
              <a:lnSpc>
                <a:spcPct val="103000"/>
              </a:lnSpc>
              <a:spcBef>
                <a:spcPts val="0"/>
              </a:spcBef>
              <a:spcAft>
                <a:spcPts val="0"/>
              </a:spcAft>
            </a:pPr>
            <a:r>
              <a:rPr sz="3500" b="1" i="0">
                <a:solidFill>
                  <a:srgbClr val="0B2A4A"/>
                </a:solidFill>
                <a:latin typeface="Calibri"/>
              </a:rPr>
              <a:t>During Drilling:</a:t>
            </a:r>
          </a:p>
          <a:p>
            <a:pPr algn="l">
              <a:lnSpc>
                <a:spcPct val="103000"/>
              </a:lnSpc>
              <a:spcBef>
                <a:spcPts val="0"/>
              </a:spcBef>
              <a:spcAft>
                <a:spcPts val="0"/>
              </a:spcAft>
            </a:pPr>
            <a:r>
              <a:rPr sz="2600" b="1" i="0">
                <a:solidFill>
                  <a:srgbClr val="0E7C7C"/>
                </a:solidFill>
                <a:latin typeface="Calibri"/>
              </a:rPr>
              <a:t>Mechanisms, Skin Quantification,</a:t>
            </a:r>
          </a:p>
          <a:p>
            <a:pPr algn="l">
              <a:lnSpc>
                <a:spcPct val="103000"/>
              </a:lnSpc>
              <a:spcBef>
                <a:spcPts val="0"/>
              </a:spcBef>
              <a:spcAft>
                <a:spcPts val="0"/>
              </a:spcAft>
            </a:pPr>
            <a:r>
              <a:rPr sz="2600" b="1" i="0">
                <a:solidFill>
                  <a:srgbClr val="0E7C7C"/>
                </a:solidFill>
                <a:latin typeface="Calibri"/>
              </a:rPr>
              <a:t>and Mitigation Strategies</a:t>
            </a:r>
          </a:p>
        </p:txBody>
      </p:sp>
      <p:sp>
        <p:nvSpPr>
          <p:cNvPr id="5" name="TextBox 4"/>
          <p:cNvSpPr txBox="1"/>
          <p:nvPr/>
        </p:nvSpPr>
        <p:spPr>
          <a:xfrm>
            <a:off x="822960" y="3977639"/>
            <a:ext cx="6766560" cy="1737360"/>
          </a:xfrm>
          <a:prstGeom prst="rect">
            <a:avLst/>
          </a:prstGeom>
          <a:noFill/>
        </p:spPr>
        <p:txBody>
          <a:bodyPr wrap="square" lIns="0" rIns="0" tIns="0" bIns="0" anchor="t">
            <a:spAutoFit/>
          </a:bodyPr>
          <a:lstStyle/>
          <a:p>
            <a:pPr algn="l">
              <a:lnSpc>
                <a:spcPct val="120000"/>
              </a:lnSpc>
              <a:spcBef>
                <a:spcPts val="0"/>
              </a:spcBef>
              <a:spcAft>
                <a:spcPts val="900"/>
              </a:spcAft>
            </a:pPr>
          </a:p>
          <a:p>
            <a:pPr algn="l">
              <a:lnSpc>
                <a:spcPct val="120000"/>
              </a:lnSpc>
              <a:spcBef>
                <a:spcPts val="0"/>
              </a:spcBef>
              <a:spcAft>
                <a:spcPts val="300"/>
              </a:spcAft>
            </a:pPr>
            <a:r>
              <a:rPr sz="1400" b="0" i="0">
                <a:solidFill>
                  <a:srgbClr val="5A6472"/>
                </a:solidFill>
                <a:latin typeface="Calibri"/>
              </a:rPr>
              <a:t>Supervisor: [Prof. Name]</a:t>
            </a:r>
          </a:p>
          <a:p>
            <a:pPr algn="l">
              <a:lnSpc>
                <a:spcPct val="120000"/>
              </a:lnSpc>
              <a:spcBef>
                <a:spcPts val="0"/>
              </a:spcBef>
              <a:spcAft>
                <a:spcPts val="300"/>
              </a:spcAft>
            </a:pPr>
            <a:r>
              <a:rPr sz="1400" b="0" i="0">
                <a:solidFill>
                  <a:srgbClr val="5A6472"/>
                </a:solidFill>
                <a:latin typeface="Calibri"/>
              </a:rPr>
              <a:t>Department of Petroleum and Gas Engineering · [University]</a:t>
            </a:r>
          </a:p>
          <a:p>
            <a:pPr algn="l">
              <a:lnSpc>
                <a:spcPct val="120000"/>
              </a:lnSpc>
              <a:spcBef>
                <a:spcPts val="0"/>
              </a:spcBef>
              <a:spcAft>
                <a:spcPts val="300"/>
              </a:spcAft>
            </a:pPr>
            <a:r>
              <a:rPr sz="1400" b="0" i="0">
                <a:solidFill>
                  <a:srgbClr val="5A6472"/>
                </a:solidFill>
                <a:latin typeface="Calibri"/>
              </a:rPr>
              <a:t>Seminar · [Month Year]</a:t>
            </a:r>
          </a:p>
        </p:txBody>
      </p:sp>
      <p:sp>
        <p:nvSpPr>
          <p:cNvPr id="6" name="Oval 5"/>
          <p:cNvSpPr/>
          <p:nvPr/>
        </p:nvSpPr>
        <p:spPr>
          <a:xfrm>
            <a:off x="8001000" y="1188720"/>
            <a:ext cx="4206240" cy="4206240"/>
          </a:xfrm>
          <a:prstGeom prst="ellipse">
            <a:avLst/>
          </a:prstGeom>
          <a:noFill/>
          <a:ln w="19050">
            <a:solidFill>
              <a:srgbClr val="E6EFF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8641080" y="1828800"/>
            <a:ext cx="2926080" cy="2926080"/>
          </a:xfrm>
          <a:prstGeom prst="ellipse">
            <a:avLst/>
          </a:prstGeom>
          <a:noFill/>
          <a:ln w="19050">
            <a:solidFill>
              <a:srgbClr val="CFE4E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9189720" y="2377440"/>
            <a:ext cx="1828800" cy="1828800"/>
          </a:xfrm>
          <a:prstGeom prst="ellipse">
            <a:avLst/>
          </a:prstGeom>
          <a:noFill/>
          <a:ln w="19050">
            <a:solidFill>
              <a:srgbClr val="C2E4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Oval 8"/>
          <p:cNvSpPr/>
          <p:nvPr/>
        </p:nvSpPr>
        <p:spPr>
          <a:xfrm>
            <a:off x="9669780" y="2857500"/>
            <a:ext cx="868680" cy="868680"/>
          </a:xfrm>
          <a:prstGeom prst="ellipse">
            <a:avLst/>
          </a:prstGeom>
          <a:noFill/>
          <a:ln w="25400">
            <a:solidFill>
              <a:srgbClr val="12A4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9957816" y="3145536"/>
            <a:ext cx="292608" cy="292608"/>
          </a:xfrm>
          <a:prstGeom prst="ellipse">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22960" y="6272784"/>
            <a:ext cx="5486400" cy="256032"/>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5A6472"/>
                </a:solidFill>
                <a:latin typeface="Calibri"/>
              </a:rPr>
              <a:t>Image: [source / licence]</a:t>
            </a:r>
          </a:p>
        </p:txBody>
      </p:sp>
      <p:sp>
        <p:nvSpPr>
          <p:cNvPr id="12" name="TextBox 11"/>
          <p:cNvSpPr txBox="1"/>
          <p:nvPr/>
        </p:nvSpPr>
        <p:spPr>
          <a:xfrm>
            <a:off x="8918143" y="6272784"/>
            <a:ext cx="2743200" cy="256032"/>
          </a:xfrm>
          <a:prstGeom prst="rect">
            <a:avLst/>
          </a:prstGeom>
          <a:noFill/>
        </p:spPr>
        <p:txBody>
          <a:bodyPr wrap="square" lIns="0" rIns="0" tIns="0" bIns="0" anchor="t">
            <a:spAutoFit/>
          </a:bodyPr>
          <a:lstStyle/>
          <a:p>
            <a:pPr algn="r">
              <a:lnSpc>
                <a:spcPct val="120000"/>
              </a:lnSpc>
              <a:spcBef>
                <a:spcPts val="0"/>
              </a:spcBef>
              <a:spcAft>
                <a:spcPts val="0"/>
              </a:spcAft>
            </a:pPr>
            <a:r>
              <a:rPr sz="1000" b="0" i="0">
                <a:solidFill>
                  <a:srgbClr val="B9C2CC"/>
                </a:solidFill>
                <a:latin typeface="Calibri"/>
              </a:rPr>
              <a:t>23 slides + 5 hidden backups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Same drawdown, but damage cuts the rate by more than half</a:t>
            </a:r>
          </a:p>
        </p:txBody>
      </p:sp>
      <p:sp>
        <p:nvSpPr>
          <p:cNvPr id="3" name="TextBox 2"/>
          <p:cNvSpPr txBox="1"/>
          <p:nvPr/>
        </p:nvSpPr>
        <p:spPr>
          <a:xfrm>
            <a:off x="530352" y="1371600"/>
            <a:ext cx="3291840" cy="1005840"/>
          </a:xfrm>
          <a:prstGeom prst="rect">
            <a:avLst/>
          </a:prstGeom>
          <a:noFill/>
        </p:spPr>
        <p:txBody>
          <a:bodyPr wrap="square" lIns="0" rIns="0" tIns="0" bIns="0" anchor="t">
            <a:spAutoFit/>
          </a:bodyPr>
          <a:lstStyle/>
          <a:p>
            <a:pPr algn="l">
              <a:lnSpc>
                <a:spcPct val="120000"/>
              </a:lnSpc>
              <a:spcBef>
                <a:spcPts val="0"/>
              </a:spcBef>
              <a:spcAft>
                <a:spcPts val="0"/>
              </a:spcAft>
            </a:pPr>
            <a:r>
              <a:rPr sz="6000" b="1" i="0">
                <a:solidFill>
                  <a:srgbClr val="D1483B"/>
                </a:solidFill>
                <a:latin typeface="Calibri"/>
              </a:rPr>
              <a:t>−55%</a:t>
            </a:r>
          </a:p>
        </p:txBody>
      </p:sp>
      <p:sp>
        <p:nvSpPr>
          <p:cNvPr id="4" name="TextBox 3"/>
          <p:cNvSpPr txBox="1"/>
          <p:nvPr/>
        </p:nvSpPr>
        <p:spPr>
          <a:xfrm>
            <a:off x="530352" y="2487168"/>
            <a:ext cx="3566160" cy="320040"/>
          </a:xfrm>
          <a:prstGeom prst="rect">
            <a:avLst/>
          </a:prstGeom>
          <a:noFill/>
        </p:spPr>
        <p:txBody>
          <a:bodyPr wrap="square" lIns="0" rIns="0" tIns="0" bIns="0" anchor="t">
            <a:spAutoFit/>
          </a:bodyPr>
          <a:lstStyle/>
          <a:p>
            <a:pPr algn="l">
              <a:lnSpc>
                <a:spcPct val="120000"/>
              </a:lnSpc>
              <a:spcBef>
                <a:spcPts val="0"/>
              </a:spcBef>
              <a:spcAft>
                <a:spcPts val="0"/>
              </a:spcAft>
            </a:pPr>
            <a:r>
              <a:rPr sz="1500" b="0" i="0">
                <a:solidFill>
                  <a:srgbClr val="5A6472"/>
                </a:solidFill>
                <a:latin typeface="Calibri"/>
              </a:rPr>
              <a:t>rate at the same drawdown</a:t>
            </a:r>
          </a:p>
        </p:txBody>
      </p:sp>
      <p:cxnSp>
        <p:nvCxnSpPr>
          <p:cNvPr id="5" name="Connector 4"/>
          <p:cNvCxnSpPr/>
          <p:nvPr/>
        </p:nvCxnSpPr>
        <p:spPr>
          <a:xfrm>
            <a:off x="530352" y="2944368"/>
            <a:ext cx="3172968" cy="0"/>
          </a:xfrm>
          <a:prstGeom prst="line">
            <a:avLst/>
          </a:prstGeom>
          <a:ln w="15875">
            <a:solidFill>
              <a:srgbClr val="DCE3E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3154680"/>
            <a:ext cx="3566160" cy="457200"/>
          </a:xfrm>
          <a:prstGeom prst="rect">
            <a:avLst/>
          </a:prstGeom>
          <a:noFill/>
        </p:spPr>
        <p:txBody>
          <a:bodyPr wrap="square" lIns="0" rIns="0" tIns="0" bIns="0" anchor="t">
            <a:spAutoFit/>
          </a:bodyPr>
          <a:lstStyle/>
          <a:p>
            <a:pPr algn="l">
              <a:lnSpc>
                <a:spcPct val="120000"/>
              </a:lnSpc>
              <a:spcBef>
                <a:spcPts val="0"/>
              </a:spcBef>
              <a:spcAft>
                <a:spcPts val="0"/>
              </a:spcAft>
            </a:pPr>
            <a:r>
              <a:rPr sz="2700" b="1" i="0">
                <a:solidFill>
                  <a:srgbClr val="0B2A4A"/>
                </a:solidFill>
                <a:latin typeface="Calibri"/>
              </a:rPr>
              <a:t>4,270 → 1,910</a:t>
            </a:r>
          </a:p>
        </p:txBody>
      </p:sp>
      <p:sp>
        <p:nvSpPr>
          <p:cNvPr id="7" name="TextBox 6"/>
          <p:cNvSpPr txBox="1"/>
          <p:nvPr/>
        </p:nvSpPr>
        <p:spPr>
          <a:xfrm>
            <a:off x="530352" y="3657600"/>
            <a:ext cx="3566160" cy="36576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5A6472"/>
                </a:solidFill>
                <a:latin typeface="Calibri"/>
              </a:rPr>
              <a:t>STB/d, undamaged → damaged</a:t>
            </a:r>
          </a:p>
        </p:txBody>
      </p:sp>
      <p:sp>
        <p:nvSpPr>
          <p:cNvPr id="8" name="TextBox 7"/>
          <p:cNvSpPr txBox="1"/>
          <p:nvPr/>
        </p:nvSpPr>
        <p:spPr>
          <a:xfrm>
            <a:off x="530352" y="3968496"/>
            <a:ext cx="3566160" cy="365760"/>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5A6472"/>
                </a:solidFill>
                <a:latin typeface="Calibri"/>
              </a:rPr>
              <a:t>(S = 0 → S = 8.55)</a:t>
            </a:r>
          </a:p>
        </p:txBody>
      </p:sp>
      <p:sp>
        <p:nvSpPr>
          <p:cNvPr id="9" name="TextBox 8"/>
          <p:cNvSpPr txBox="1"/>
          <p:nvPr/>
        </p:nvSpPr>
        <p:spPr>
          <a:xfrm>
            <a:off x="530352" y="4407408"/>
            <a:ext cx="3657600" cy="365760"/>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5A6472"/>
                </a:solidFill>
                <a:latin typeface="Calibri"/>
              </a:rPr>
              <a:t>At p</a:t>
            </a:r>
            <a:r>
              <a:rPr sz="1300" b="0" i="0" baseline="-25000">
                <a:solidFill>
                  <a:srgbClr val="5A6472"/>
                </a:solidFill>
                <a:latin typeface="Calibri"/>
              </a:rPr>
              <a:t>wf</a:t>
            </a:r>
            <a:r>
              <a:rPr sz="1300" b="0" i="0">
                <a:solidFill>
                  <a:srgbClr val="5A6472"/>
                </a:solidFill>
                <a:latin typeface="Calibri"/>
              </a:rPr>
              <a:t> = 2,500 psi, same drawdown.</a:t>
            </a:r>
          </a:p>
        </p:txBody>
      </p:sp>
      <p:pic>
        <p:nvPicPr>
          <p:cNvPr id="10" name="Picture 9" descr="s2_ipr.png"/>
          <p:cNvPicPr>
            <a:picLocks noChangeAspect="1"/>
          </p:cNvPicPr>
          <p:nvPr/>
        </p:nvPicPr>
        <p:blipFill>
          <a:blip r:embed="rId2"/>
          <a:stretch>
            <a:fillRect/>
          </a:stretch>
        </p:blipFill>
        <p:spPr>
          <a:xfrm>
            <a:off x="4297680" y="1481328"/>
            <a:ext cx="7360920" cy="4610386"/>
          </a:xfrm>
          <a:prstGeom prst="rect">
            <a:avLst/>
          </a:prstGeom>
        </p:spPr>
      </p:pic>
      <p:sp>
        <p:nvSpPr>
          <p:cNvPr id="11" name="TextBox 10"/>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Illustrative data (k = 100 md, h = 50 ft). Author's calculation.</a:t>
            </a:r>
          </a:p>
        </p:txBody>
      </p:sp>
      <p:sp>
        <p:nvSpPr>
          <p:cNvPr id="12" name="TextBox 11"/>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Damage is invisible while drilling but costly during production</a:t>
            </a:r>
          </a:p>
        </p:txBody>
      </p:sp>
      <p:sp>
        <p:nvSpPr>
          <p:cNvPr id="3" name="Rectangle 2"/>
          <p:cNvSpPr/>
          <p:nvPr/>
        </p:nvSpPr>
        <p:spPr>
          <a:xfrm>
            <a:off x="530352" y="1691640"/>
            <a:ext cx="11130991" cy="658368"/>
          </a:xfrm>
          <a:prstGeom prst="rect">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30352" y="1691640"/>
            <a:ext cx="91440" cy="658368"/>
          </a:xfrm>
          <a:prstGeom prst="rect">
            <a:avLst/>
          </a:prstGeom>
          <a:solidFill>
            <a:srgbClr val="E39A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04671" y="1856231"/>
            <a:ext cx="10673791" cy="365760"/>
          </a:xfrm>
          <a:prstGeom prst="rect">
            <a:avLst/>
          </a:prstGeom>
          <a:noFill/>
        </p:spPr>
        <p:txBody>
          <a:bodyPr wrap="square" lIns="0" rIns="0" tIns="0" bIns="0" anchor="t">
            <a:spAutoFit/>
          </a:bodyPr>
          <a:lstStyle/>
          <a:p>
            <a:pPr algn="l">
              <a:lnSpc>
                <a:spcPct val="120000"/>
              </a:lnSpc>
              <a:spcBef>
                <a:spcPts val="0"/>
              </a:spcBef>
              <a:spcAft>
                <a:spcPts val="0"/>
              </a:spcAft>
            </a:pPr>
            <a:r>
              <a:rPr sz="1600" b="1" i="0">
                <a:solidFill>
                  <a:srgbClr val="0B2A4A"/>
                </a:solidFill>
                <a:latin typeface="Calibri"/>
              </a:rPr>
              <a:t>Problem: drilling fluids impair near-wellbore permeability</a:t>
            </a:r>
          </a:p>
        </p:txBody>
      </p:sp>
      <p:sp>
        <p:nvSpPr>
          <p:cNvPr id="6" name="Rectangle 5"/>
          <p:cNvSpPr/>
          <p:nvPr/>
        </p:nvSpPr>
        <p:spPr>
          <a:xfrm>
            <a:off x="530352" y="2788920"/>
            <a:ext cx="3567074" cy="28803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1929841" y="3118104"/>
            <a:ext cx="768096" cy="768096"/>
          </a:xfrm>
          <a:prstGeom prst="ellipse">
            <a:avLst/>
          </a:prstGeom>
          <a:solidFill>
            <a:srgbClr val="E6F5F5"/>
          </a:solidFill>
          <a:ln w="19050">
            <a:solidFill>
              <a:srgbClr val="12A4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929841" y="3282696"/>
            <a:ext cx="768096" cy="457200"/>
          </a:xfrm>
          <a:prstGeom prst="rect">
            <a:avLst/>
          </a:prstGeom>
          <a:noFill/>
        </p:spPr>
        <p:txBody>
          <a:bodyPr wrap="square" lIns="0" rIns="0" tIns="0" bIns="0" anchor="t">
            <a:spAutoFit/>
          </a:bodyPr>
          <a:lstStyle/>
          <a:p>
            <a:pPr algn="ctr">
              <a:lnSpc>
                <a:spcPct val="120000"/>
              </a:lnSpc>
              <a:spcBef>
                <a:spcPts val="0"/>
              </a:spcBef>
              <a:spcAft>
                <a:spcPts val="0"/>
              </a:spcAft>
            </a:pPr>
            <a:r>
              <a:rPr sz="2400" b="1" i="0">
                <a:solidFill>
                  <a:srgbClr val="0E7C7C"/>
                </a:solidFill>
                <a:latin typeface="Calibri"/>
              </a:rPr>
              <a:t>1</a:t>
            </a:r>
          </a:p>
        </p:txBody>
      </p:sp>
      <p:sp>
        <p:nvSpPr>
          <p:cNvPr id="9" name="TextBox 8"/>
          <p:cNvSpPr txBox="1"/>
          <p:nvPr/>
        </p:nvSpPr>
        <p:spPr>
          <a:xfrm>
            <a:off x="713232" y="4160520"/>
            <a:ext cx="3201314" cy="365760"/>
          </a:xfrm>
          <a:prstGeom prst="rect">
            <a:avLst/>
          </a:prstGeom>
          <a:noFill/>
        </p:spPr>
        <p:txBody>
          <a:bodyPr wrap="square" lIns="0" rIns="0" tIns="0" bIns="0" anchor="t">
            <a:spAutoFit/>
          </a:bodyPr>
          <a:lstStyle/>
          <a:p>
            <a:pPr algn="ctr">
              <a:lnSpc>
                <a:spcPct val="120000"/>
              </a:lnSpc>
              <a:spcBef>
                <a:spcPts val="0"/>
              </a:spcBef>
              <a:spcAft>
                <a:spcPts val="0"/>
              </a:spcAft>
            </a:pPr>
            <a:r>
              <a:rPr sz="1900" b="1" i="0">
                <a:solidFill>
                  <a:srgbClr val="0B2A4A"/>
                </a:solidFill>
                <a:latin typeface="Calibri"/>
              </a:rPr>
              <a:t>1. Mechanisms</a:t>
            </a:r>
          </a:p>
        </p:txBody>
      </p:sp>
      <p:sp>
        <p:nvSpPr>
          <p:cNvPr id="10" name="TextBox 9"/>
          <p:cNvSpPr txBox="1"/>
          <p:nvPr/>
        </p:nvSpPr>
        <p:spPr>
          <a:xfrm>
            <a:off x="758952" y="4645152"/>
            <a:ext cx="3109874" cy="731520"/>
          </a:xfrm>
          <a:prstGeom prst="rect">
            <a:avLst/>
          </a:prstGeom>
          <a:noFill/>
        </p:spPr>
        <p:txBody>
          <a:bodyPr wrap="square" lIns="0" rIns="0" tIns="0" bIns="0" anchor="t">
            <a:spAutoFit/>
          </a:bodyPr>
          <a:lstStyle/>
          <a:p>
            <a:pPr algn="ctr">
              <a:lnSpc>
                <a:spcPct val="125000"/>
              </a:lnSpc>
              <a:spcBef>
                <a:spcPts val="0"/>
              </a:spcBef>
              <a:spcAft>
                <a:spcPts val="0"/>
              </a:spcAft>
            </a:pPr>
            <a:r>
              <a:rPr sz="1500" b="0" i="0">
                <a:solidFill>
                  <a:srgbClr val="5A6472"/>
                </a:solidFill>
                <a:latin typeface="Calibri"/>
              </a:rPr>
              <a:t>Explain how damage forms</a:t>
            </a:r>
          </a:p>
        </p:txBody>
      </p:sp>
      <p:sp>
        <p:nvSpPr>
          <p:cNvPr id="11" name="Rectangle 10"/>
          <p:cNvSpPr/>
          <p:nvPr/>
        </p:nvSpPr>
        <p:spPr>
          <a:xfrm>
            <a:off x="4312310" y="2788920"/>
            <a:ext cx="3567074" cy="28803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5711799" y="3118104"/>
            <a:ext cx="768096" cy="768096"/>
          </a:xfrm>
          <a:prstGeom prst="ellipse">
            <a:avLst/>
          </a:prstGeom>
          <a:solidFill>
            <a:srgbClr val="E6F5F5"/>
          </a:solidFill>
          <a:ln w="19050">
            <a:solidFill>
              <a:srgbClr val="12A4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11799" y="3282696"/>
            <a:ext cx="768096" cy="457200"/>
          </a:xfrm>
          <a:prstGeom prst="rect">
            <a:avLst/>
          </a:prstGeom>
          <a:noFill/>
        </p:spPr>
        <p:txBody>
          <a:bodyPr wrap="square" lIns="0" rIns="0" tIns="0" bIns="0" anchor="t">
            <a:spAutoFit/>
          </a:bodyPr>
          <a:lstStyle/>
          <a:p>
            <a:pPr algn="ctr">
              <a:lnSpc>
                <a:spcPct val="120000"/>
              </a:lnSpc>
              <a:spcBef>
                <a:spcPts val="0"/>
              </a:spcBef>
              <a:spcAft>
                <a:spcPts val="0"/>
              </a:spcAft>
            </a:pPr>
            <a:r>
              <a:rPr sz="2400" b="1" i="0">
                <a:solidFill>
                  <a:srgbClr val="0E7C7C"/>
                </a:solidFill>
                <a:latin typeface="Calibri"/>
              </a:rPr>
              <a:t>2</a:t>
            </a:r>
          </a:p>
        </p:txBody>
      </p:sp>
      <p:sp>
        <p:nvSpPr>
          <p:cNvPr id="14" name="TextBox 13"/>
          <p:cNvSpPr txBox="1"/>
          <p:nvPr/>
        </p:nvSpPr>
        <p:spPr>
          <a:xfrm>
            <a:off x="4495190" y="4160520"/>
            <a:ext cx="3201314" cy="365760"/>
          </a:xfrm>
          <a:prstGeom prst="rect">
            <a:avLst/>
          </a:prstGeom>
          <a:noFill/>
        </p:spPr>
        <p:txBody>
          <a:bodyPr wrap="square" lIns="0" rIns="0" tIns="0" bIns="0" anchor="t">
            <a:spAutoFit/>
          </a:bodyPr>
          <a:lstStyle/>
          <a:p>
            <a:pPr algn="ctr">
              <a:lnSpc>
                <a:spcPct val="120000"/>
              </a:lnSpc>
              <a:spcBef>
                <a:spcPts val="0"/>
              </a:spcBef>
              <a:spcAft>
                <a:spcPts val="0"/>
              </a:spcAft>
            </a:pPr>
            <a:r>
              <a:rPr sz="1900" b="1" i="0">
                <a:solidFill>
                  <a:srgbClr val="0B2A4A"/>
                </a:solidFill>
                <a:latin typeface="Calibri"/>
              </a:rPr>
              <a:t>2. Quantification</a:t>
            </a:r>
          </a:p>
        </p:txBody>
      </p:sp>
      <p:sp>
        <p:nvSpPr>
          <p:cNvPr id="15" name="TextBox 14"/>
          <p:cNvSpPr txBox="1"/>
          <p:nvPr/>
        </p:nvSpPr>
        <p:spPr>
          <a:xfrm>
            <a:off x="4540910" y="4645152"/>
            <a:ext cx="3109874" cy="731520"/>
          </a:xfrm>
          <a:prstGeom prst="rect">
            <a:avLst/>
          </a:prstGeom>
          <a:noFill/>
        </p:spPr>
        <p:txBody>
          <a:bodyPr wrap="square" lIns="0" rIns="0" tIns="0" bIns="0" anchor="t">
            <a:spAutoFit/>
          </a:bodyPr>
          <a:lstStyle/>
          <a:p>
            <a:pPr algn="ctr">
              <a:lnSpc>
                <a:spcPct val="125000"/>
              </a:lnSpc>
              <a:spcBef>
                <a:spcPts val="0"/>
              </a:spcBef>
              <a:spcAft>
                <a:spcPts val="0"/>
              </a:spcAft>
            </a:pPr>
            <a:r>
              <a:rPr sz="1500" b="0" i="0">
                <a:solidFill>
                  <a:srgbClr val="5A6472"/>
                </a:solidFill>
                <a:latin typeface="Calibri"/>
              </a:rPr>
              <a:t>Measure the loss with skin</a:t>
            </a:r>
          </a:p>
        </p:txBody>
      </p:sp>
      <p:sp>
        <p:nvSpPr>
          <p:cNvPr id="16" name="Rectangle 15"/>
          <p:cNvSpPr/>
          <p:nvPr/>
        </p:nvSpPr>
        <p:spPr>
          <a:xfrm>
            <a:off x="8094268" y="2788920"/>
            <a:ext cx="3567074" cy="28803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9493758" y="3118104"/>
            <a:ext cx="768096" cy="768096"/>
          </a:xfrm>
          <a:prstGeom prst="ellipse">
            <a:avLst/>
          </a:prstGeom>
          <a:solidFill>
            <a:srgbClr val="E6F5F5"/>
          </a:solidFill>
          <a:ln w="19050">
            <a:solidFill>
              <a:srgbClr val="12A4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493758" y="3282696"/>
            <a:ext cx="768096" cy="457200"/>
          </a:xfrm>
          <a:prstGeom prst="rect">
            <a:avLst/>
          </a:prstGeom>
          <a:noFill/>
        </p:spPr>
        <p:txBody>
          <a:bodyPr wrap="square" lIns="0" rIns="0" tIns="0" bIns="0" anchor="t">
            <a:spAutoFit/>
          </a:bodyPr>
          <a:lstStyle/>
          <a:p>
            <a:pPr algn="ctr">
              <a:lnSpc>
                <a:spcPct val="120000"/>
              </a:lnSpc>
              <a:spcBef>
                <a:spcPts val="0"/>
              </a:spcBef>
              <a:spcAft>
                <a:spcPts val="0"/>
              </a:spcAft>
            </a:pPr>
            <a:r>
              <a:rPr sz="2400" b="1" i="0">
                <a:solidFill>
                  <a:srgbClr val="0E7C7C"/>
                </a:solidFill>
                <a:latin typeface="Calibri"/>
              </a:rPr>
              <a:t>3</a:t>
            </a:r>
          </a:p>
        </p:txBody>
      </p:sp>
      <p:sp>
        <p:nvSpPr>
          <p:cNvPr id="19" name="TextBox 18"/>
          <p:cNvSpPr txBox="1"/>
          <p:nvPr/>
        </p:nvSpPr>
        <p:spPr>
          <a:xfrm>
            <a:off x="8277148" y="4160520"/>
            <a:ext cx="3201314" cy="365760"/>
          </a:xfrm>
          <a:prstGeom prst="rect">
            <a:avLst/>
          </a:prstGeom>
          <a:noFill/>
        </p:spPr>
        <p:txBody>
          <a:bodyPr wrap="square" lIns="0" rIns="0" tIns="0" bIns="0" anchor="t">
            <a:spAutoFit/>
          </a:bodyPr>
          <a:lstStyle/>
          <a:p>
            <a:pPr algn="ctr">
              <a:lnSpc>
                <a:spcPct val="120000"/>
              </a:lnSpc>
              <a:spcBef>
                <a:spcPts val="0"/>
              </a:spcBef>
              <a:spcAft>
                <a:spcPts val="0"/>
              </a:spcAft>
            </a:pPr>
            <a:r>
              <a:rPr sz="1900" b="1" i="0">
                <a:solidFill>
                  <a:srgbClr val="0B2A4A"/>
                </a:solidFill>
                <a:latin typeface="Calibri"/>
              </a:rPr>
              <a:t>3. Strategies</a:t>
            </a:r>
          </a:p>
        </p:txBody>
      </p:sp>
      <p:sp>
        <p:nvSpPr>
          <p:cNvPr id="20" name="TextBox 19"/>
          <p:cNvSpPr txBox="1"/>
          <p:nvPr/>
        </p:nvSpPr>
        <p:spPr>
          <a:xfrm>
            <a:off x="8322868" y="4645152"/>
            <a:ext cx="3109874" cy="731520"/>
          </a:xfrm>
          <a:prstGeom prst="rect">
            <a:avLst/>
          </a:prstGeom>
          <a:noFill/>
        </p:spPr>
        <p:txBody>
          <a:bodyPr wrap="square" lIns="0" rIns="0" tIns="0" bIns="0" anchor="t">
            <a:spAutoFit/>
          </a:bodyPr>
          <a:lstStyle/>
          <a:p>
            <a:pPr algn="ctr">
              <a:lnSpc>
                <a:spcPct val="125000"/>
              </a:lnSpc>
              <a:spcBef>
                <a:spcPts val="0"/>
              </a:spcBef>
              <a:spcAft>
                <a:spcPts val="0"/>
              </a:spcAft>
            </a:pPr>
            <a:r>
              <a:rPr sz="1500" b="0" i="0">
                <a:solidFill>
                  <a:srgbClr val="5A6472"/>
                </a:solidFill>
                <a:latin typeface="Calibri"/>
              </a:rPr>
              <a:t>Compare prevention and remediation</a:t>
            </a:r>
          </a:p>
        </p:txBody>
      </p:sp>
      <p:sp>
        <p:nvSpPr>
          <p:cNvPr id="21" name="TextBox 20"/>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Five steps, from flow physics to my project plan</a:t>
            </a:r>
          </a:p>
        </p:txBody>
      </p:sp>
      <p:cxnSp>
        <p:nvCxnSpPr>
          <p:cNvPr id="3" name="Connector 2"/>
          <p:cNvCxnSpPr/>
          <p:nvPr/>
        </p:nvCxnSpPr>
        <p:spPr>
          <a:xfrm>
            <a:off x="1541038" y="2359152"/>
            <a:ext cx="9109618" cy="0"/>
          </a:xfrm>
          <a:prstGeom prst="line">
            <a:avLst/>
          </a:prstGeom>
          <a:ln w="19050">
            <a:solidFill>
              <a:srgbClr val="B9C2CC"/>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1417594" y="223570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30352" y="27889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40080" y="31729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Fundamentals</a:t>
            </a:r>
          </a:p>
        </p:txBody>
      </p:sp>
      <p:sp>
        <p:nvSpPr>
          <p:cNvPr id="7" name="TextBox 6"/>
          <p:cNvSpPr txBox="1"/>
          <p:nvPr/>
        </p:nvSpPr>
        <p:spPr>
          <a:xfrm>
            <a:off x="640080" y="37216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Flow near the well</a:t>
            </a:r>
          </a:p>
        </p:txBody>
      </p:sp>
      <p:sp>
        <p:nvSpPr>
          <p:cNvPr id="8" name="Oval 7"/>
          <p:cNvSpPr/>
          <p:nvPr/>
        </p:nvSpPr>
        <p:spPr>
          <a:xfrm>
            <a:off x="3694998" y="223570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2807756" y="27889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2917484" y="31729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Mechanisms</a:t>
            </a:r>
          </a:p>
        </p:txBody>
      </p:sp>
      <p:sp>
        <p:nvSpPr>
          <p:cNvPr id="11" name="TextBox 10"/>
          <p:cNvSpPr txBox="1"/>
          <p:nvPr/>
        </p:nvSpPr>
        <p:spPr>
          <a:xfrm>
            <a:off x="2917484" y="37216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How damage forms</a:t>
            </a:r>
          </a:p>
        </p:txBody>
      </p:sp>
      <p:sp>
        <p:nvSpPr>
          <p:cNvPr id="12" name="Oval 11"/>
          <p:cNvSpPr/>
          <p:nvPr/>
        </p:nvSpPr>
        <p:spPr>
          <a:xfrm>
            <a:off x="5972403" y="223570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5085161" y="27889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194889" y="31729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Quantification</a:t>
            </a:r>
          </a:p>
        </p:txBody>
      </p:sp>
      <p:sp>
        <p:nvSpPr>
          <p:cNvPr id="15" name="TextBox 14"/>
          <p:cNvSpPr txBox="1"/>
          <p:nvPr/>
        </p:nvSpPr>
        <p:spPr>
          <a:xfrm>
            <a:off x="5194889" y="37216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Skin and productivity</a:t>
            </a:r>
          </a:p>
        </p:txBody>
      </p:sp>
      <p:sp>
        <p:nvSpPr>
          <p:cNvPr id="16" name="Oval 15"/>
          <p:cNvSpPr/>
          <p:nvPr/>
        </p:nvSpPr>
        <p:spPr>
          <a:xfrm>
            <a:off x="8249808" y="223570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362565" y="27889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472293" y="31729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Solutions</a:t>
            </a:r>
          </a:p>
        </p:txBody>
      </p:sp>
      <p:sp>
        <p:nvSpPr>
          <p:cNvPr id="19" name="TextBox 18"/>
          <p:cNvSpPr txBox="1"/>
          <p:nvPr/>
        </p:nvSpPr>
        <p:spPr>
          <a:xfrm>
            <a:off x="7472293" y="37216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Prevention and cure</a:t>
            </a:r>
          </a:p>
        </p:txBody>
      </p:sp>
      <p:sp>
        <p:nvSpPr>
          <p:cNvPr id="20" name="Oval 19"/>
          <p:cNvSpPr/>
          <p:nvPr/>
        </p:nvSpPr>
        <p:spPr>
          <a:xfrm>
            <a:off x="10527212" y="223570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9639970" y="27889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749698" y="31729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Next steps</a:t>
            </a:r>
          </a:p>
        </p:txBody>
      </p:sp>
      <p:sp>
        <p:nvSpPr>
          <p:cNvPr id="23" name="TextBox 22"/>
          <p:cNvSpPr txBox="1"/>
          <p:nvPr/>
        </p:nvSpPr>
        <p:spPr>
          <a:xfrm>
            <a:off x="9749698" y="37216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Economics and project</a:t>
            </a:r>
          </a:p>
        </p:txBody>
      </p:sp>
      <p:sp>
        <p:nvSpPr>
          <p:cNvPr id="24" name="TextBox 23"/>
          <p:cNvSpPr txBox="1"/>
          <p:nvPr/>
        </p:nvSpPr>
        <p:spPr>
          <a:xfrm>
            <a:off x="1417594" y="223570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1</a:t>
            </a:r>
          </a:p>
        </p:txBody>
      </p:sp>
      <p:sp>
        <p:nvSpPr>
          <p:cNvPr id="25" name="TextBox 24"/>
          <p:cNvSpPr txBox="1"/>
          <p:nvPr/>
        </p:nvSpPr>
        <p:spPr>
          <a:xfrm>
            <a:off x="3694998" y="223570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2</a:t>
            </a:r>
          </a:p>
        </p:txBody>
      </p:sp>
      <p:sp>
        <p:nvSpPr>
          <p:cNvPr id="26" name="TextBox 25"/>
          <p:cNvSpPr txBox="1"/>
          <p:nvPr/>
        </p:nvSpPr>
        <p:spPr>
          <a:xfrm>
            <a:off x="5972403" y="223570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3</a:t>
            </a:r>
          </a:p>
        </p:txBody>
      </p:sp>
      <p:sp>
        <p:nvSpPr>
          <p:cNvPr id="27" name="TextBox 26"/>
          <p:cNvSpPr txBox="1"/>
          <p:nvPr/>
        </p:nvSpPr>
        <p:spPr>
          <a:xfrm>
            <a:off x="8249808" y="223570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4</a:t>
            </a:r>
          </a:p>
        </p:txBody>
      </p:sp>
      <p:sp>
        <p:nvSpPr>
          <p:cNvPr id="28" name="TextBox 27"/>
          <p:cNvSpPr txBox="1"/>
          <p:nvPr/>
        </p:nvSpPr>
        <p:spPr>
          <a:xfrm>
            <a:off x="10527212" y="223570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5</a:t>
            </a:r>
          </a:p>
        </p:txBody>
      </p:sp>
      <p:sp>
        <p:nvSpPr>
          <p:cNvPr id="29" name="TextBox 28"/>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The near-wellbore zone controls inflow</a:t>
            </a:r>
          </a:p>
        </p:txBody>
      </p:sp>
      <p:sp>
        <p:nvSpPr>
          <p:cNvPr id="3" name="Rectangle 2"/>
          <p:cNvSpPr/>
          <p:nvPr/>
        </p:nvSpPr>
        <p:spPr>
          <a:xfrm>
            <a:off x="530352"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70916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Flow area shrinks toward the well</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Pressure gradient is steepest near the wellbore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About 30% of drawdown occurs within 3 ft</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Small damaged zone, large effect</a:t>
            </a:r>
          </a:p>
        </p:txBody>
      </p:sp>
      <p:pic>
        <p:nvPicPr>
          <p:cNvPr id="14" name="Picture 13" descr="s5_radial.png"/>
          <p:cNvPicPr>
            <a:picLocks noChangeAspect="1"/>
          </p:cNvPicPr>
          <p:nvPr/>
        </p:nvPicPr>
        <p:blipFill>
          <a:blip r:embed="rId2"/>
          <a:stretch>
            <a:fillRect/>
          </a:stretch>
        </p:blipFill>
        <p:spPr>
          <a:xfrm>
            <a:off x="5806440" y="1847088"/>
            <a:ext cx="4983480" cy="4173980"/>
          </a:xfrm>
          <a:prstGeom prst="rect">
            <a:avLst/>
          </a:prstGeom>
        </p:spPr>
      </p:pic>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 Undamaged pseudo-steady-state flow.</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Skin factor measures deviation from ideal radial flow</a:t>
            </a:r>
          </a:p>
        </p:txBody>
      </p:sp>
      <p:sp>
        <p:nvSpPr>
          <p:cNvPr id="3" name="Rectangle 2"/>
          <p:cNvSpPr/>
          <p:nvPr/>
        </p:nvSpPr>
        <p:spPr>
          <a:xfrm>
            <a:off x="530352"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25196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1" i="0">
                <a:solidFill>
                  <a:srgbClr val="1F2A37"/>
                </a:solidFill>
                <a:latin typeface="Calibri"/>
              </a:rPr>
              <a:t>S &gt; 0</a:t>
            </a:r>
            <a:r>
              <a:rPr sz="1700" b="0" i="0">
                <a:solidFill>
                  <a:srgbClr val="1F2A37"/>
                </a:solidFill>
                <a:latin typeface="Calibri"/>
              </a:rPr>
              <a:t>: damaged</a:t>
            </a:r>
          </a:p>
          <a:p>
            <a:pPr algn="l" marL="201168" indent="-201168">
              <a:lnSpc>
                <a:spcPct val="118000"/>
              </a:lnSpc>
              <a:spcBef>
                <a:spcPts val="0"/>
              </a:spcBef>
              <a:spcAft>
                <a:spcPts val="900"/>
              </a:spcAft>
            </a:pPr>
            <a:r>
              <a:rPr sz="1700" b="1">
                <a:solidFill>
                  <a:srgbClr val="12A4A8"/>
                </a:solidFill>
                <a:latin typeface="Calibri"/>
              </a:rPr>
              <a:t>•	</a:t>
            </a:r>
            <a:r>
              <a:rPr sz="1700" b="1" i="0">
                <a:solidFill>
                  <a:srgbClr val="1F2A37"/>
                </a:solidFill>
                <a:latin typeface="Calibri"/>
              </a:rPr>
              <a:t>S = 0</a:t>
            </a:r>
            <a:r>
              <a:rPr sz="1700" b="0" i="0">
                <a:solidFill>
                  <a:srgbClr val="1F2A37"/>
                </a:solidFill>
                <a:latin typeface="Calibri"/>
              </a:rPr>
              <a:t>: ideal, undisturbed</a:t>
            </a:r>
          </a:p>
          <a:p>
            <a:pPr algn="l" marL="201168" indent="-201168">
              <a:lnSpc>
                <a:spcPct val="118000"/>
              </a:lnSpc>
              <a:spcBef>
                <a:spcPts val="0"/>
              </a:spcBef>
              <a:spcAft>
                <a:spcPts val="900"/>
              </a:spcAft>
            </a:pPr>
            <a:r>
              <a:rPr sz="1700" b="1">
                <a:solidFill>
                  <a:srgbClr val="12A4A8"/>
                </a:solidFill>
                <a:latin typeface="Calibri"/>
              </a:rPr>
              <a:t>•	</a:t>
            </a:r>
            <a:r>
              <a:rPr sz="1700" b="1" i="0">
                <a:solidFill>
                  <a:srgbClr val="1F2A37"/>
                </a:solidFill>
                <a:latin typeface="Calibri"/>
              </a:rPr>
              <a:t>S &lt; 0</a:t>
            </a:r>
            <a:r>
              <a:rPr sz="1700" b="0" i="0">
                <a:solidFill>
                  <a:srgbClr val="1F2A37"/>
                </a:solidFill>
                <a:latin typeface="Calibri"/>
              </a:rPr>
              <a:t>: stimulated (acid, fracture)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Skin converts disturbance into extra pressure drop</a:t>
            </a:r>
          </a:p>
        </p:txBody>
      </p:sp>
      <p:pic>
        <p:nvPicPr>
          <p:cNvPr id="14" name="Picture 13" descr="s6_profile.png"/>
          <p:cNvPicPr>
            <a:picLocks noChangeAspect="1"/>
          </p:cNvPicPr>
          <p:nvPr/>
        </p:nvPicPr>
        <p:blipFill>
          <a:blip r:embed="rId2"/>
          <a:stretch>
            <a:fillRect/>
          </a:stretch>
        </p:blipFill>
        <p:spPr>
          <a:xfrm>
            <a:off x="4937760" y="1810512"/>
            <a:ext cx="6537960" cy="3883197"/>
          </a:xfrm>
          <a:prstGeom prst="rect">
            <a:avLst/>
          </a:prstGeom>
        </p:spPr>
      </p:pic>
      <p:sp>
        <p:nvSpPr>
          <p:cNvPr id="15" name="Rectangle 14"/>
          <p:cNvSpPr/>
          <p:nvPr/>
        </p:nvSpPr>
        <p:spPr>
          <a:xfrm>
            <a:off x="4937760" y="5705856"/>
            <a:ext cx="6537960" cy="530352"/>
          </a:xfrm>
          <a:prstGeom prst="rect">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937760" y="5824728"/>
            <a:ext cx="6537960" cy="365760"/>
          </a:xfrm>
          <a:prstGeom prst="rect">
            <a:avLst/>
          </a:prstGeom>
          <a:noFill/>
        </p:spPr>
        <p:txBody>
          <a:bodyPr wrap="square" lIns="0" rIns="0" tIns="0" bIns="0" anchor="t">
            <a:spAutoFit/>
          </a:bodyPr>
          <a:lstStyle/>
          <a:p>
            <a:pPr algn="ctr">
              <a:lnSpc>
                <a:spcPct val="120000"/>
              </a:lnSpc>
              <a:spcBef>
                <a:spcPts val="0"/>
              </a:spcBef>
              <a:spcAft>
                <a:spcPts val="0"/>
              </a:spcAft>
            </a:pPr>
            <a:r>
              <a:rPr sz="1700" b="1" i="0">
                <a:solidFill>
                  <a:srgbClr val="0B2A4A"/>
                </a:solidFill>
                <a:latin typeface="Calibri"/>
              </a:rPr>
              <a:t>Δp</a:t>
            </a:r>
            <a:r>
              <a:rPr sz="1700" b="1" i="0" baseline="-25000">
                <a:solidFill>
                  <a:srgbClr val="0B2A4A"/>
                </a:solidFill>
                <a:latin typeface="Calibri"/>
              </a:rPr>
              <a:t>skin</a:t>
            </a:r>
            <a:r>
              <a:rPr sz="1700" b="1" i="0">
                <a:solidFill>
                  <a:srgbClr val="0B2A4A"/>
                </a:solidFill>
                <a:latin typeface="Calibri"/>
              </a:rPr>
              <a:t> = 141.2 q B μ S / (k h)</a:t>
            </a:r>
          </a:p>
        </p:txBody>
      </p:sp>
      <p:sp>
        <p:nvSpPr>
          <p:cNvPr id="17" name="TextBox 16"/>
          <p:cNvSpPr txBox="1"/>
          <p:nvPr/>
        </p:nvSpPr>
        <p:spPr>
          <a:xfrm>
            <a:off x="530352" y="6355080"/>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 After van Everdingen (1953); Hawkins (1956).</a:t>
            </a:r>
          </a:p>
        </p:txBody>
      </p:sp>
      <p:sp>
        <p:nvSpPr>
          <p:cNvPr id="18" name="TextBox 17"/>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In the radial-flow equation, skin adds directly to resistance</a:t>
            </a:r>
          </a:p>
        </p:txBody>
      </p:sp>
      <p:sp>
        <p:nvSpPr>
          <p:cNvPr id="3" name="Rectangle 2"/>
          <p:cNvSpPr/>
          <p:nvPr/>
        </p:nvSpPr>
        <p:spPr>
          <a:xfrm>
            <a:off x="530352"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Rectangle 12"/>
          <p:cNvSpPr/>
          <p:nvPr/>
        </p:nvSpPr>
        <p:spPr>
          <a:xfrm>
            <a:off x="530352" y="1874519"/>
            <a:ext cx="11130991" cy="1207008"/>
          </a:xfrm>
          <a:prstGeom prst="rect">
            <a:avLst/>
          </a:prstGeom>
          <a:solidFill>
            <a:srgbClr val="EAF1F6"/>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32" y="2286000"/>
            <a:ext cx="10765231" cy="548640"/>
          </a:xfrm>
          <a:prstGeom prst="rect">
            <a:avLst/>
          </a:prstGeom>
          <a:noFill/>
        </p:spPr>
        <p:txBody>
          <a:bodyPr wrap="square" lIns="0" rIns="0" tIns="0" bIns="0" anchor="t">
            <a:spAutoFit/>
          </a:bodyPr>
          <a:lstStyle/>
          <a:p>
            <a:pPr algn="ctr">
              <a:lnSpc>
                <a:spcPct val="120000"/>
              </a:lnSpc>
              <a:spcBef>
                <a:spcPts val="0"/>
              </a:spcBef>
              <a:spcAft>
                <a:spcPts val="0"/>
              </a:spcAft>
            </a:pPr>
            <a:r>
              <a:rPr sz="2500" b="0" i="0">
                <a:solidFill>
                  <a:srgbClr val="0B2A4A"/>
                </a:solidFill>
                <a:latin typeface="Calibri"/>
              </a:rPr>
              <a:t>q  =  0.00708 k h (p̄ − p</a:t>
            </a:r>
            <a:r>
              <a:rPr sz="2500" b="0" i="0" baseline="-25000">
                <a:solidFill>
                  <a:srgbClr val="0B2A4A"/>
                </a:solidFill>
                <a:latin typeface="Calibri"/>
              </a:rPr>
              <a:t>wf</a:t>
            </a:r>
            <a:r>
              <a:rPr sz="2500" b="0" i="0">
                <a:solidFill>
                  <a:srgbClr val="0B2A4A"/>
                </a:solidFill>
                <a:latin typeface="Calibri"/>
              </a:rPr>
              <a:t>) / [ μ B ( ln(r</a:t>
            </a:r>
            <a:r>
              <a:rPr sz="2500" b="0" i="0" baseline="-25000">
                <a:solidFill>
                  <a:srgbClr val="0B2A4A"/>
                </a:solidFill>
                <a:latin typeface="Calibri"/>
              </a:rPr>
              <a:t>e</a:t>
            </a:r>
            <a:r>
              <a:rPr sz="2500" b="0" i="0">
                <a:solidFill>
                  <a:srgbClr val="0B2A4A"/>
                </a:solidFill>
                <a:latin typeface="Calibri"/>
              </a:rPr>
              <a:t>/r</a:t>
            </a:r>
            <a:r>
              <a:rPr sz="2500" b="0" i="0" baseline="-25000">
                <a:solidFill>
                  <a:srgbClr val="0B2A4A"/>
                </a:solidFill>
                <a:latin typeface="Calibri"/>
              </a:rPr>
              <a:t>w</a:t>
            </a:r>
            <a:r>
              <a:rPr sz="2500" b="0" i="0">
                <a:solidFill>
                  <a:srgbClr val="0B2A4A"/>
                </a:solidFill>
                <a:latin typeface="Calibri"/>
              </a:rPr>
              <a:t>) − 0.75 + </a:t>
            </a:r>
            <a:r>
              <a:rPr sz="2500" b="1" i="0">
                <a:solidFill>
                  <a:srgbClr val="D1483B"/>
                </a:solidFill>
                <a:latin typeface="Calibri"/>
              </a:rPr>
              <a:t>S</a:t>
            </a:r>
            <a:r>
              <a:rPr sz="2500" b="0" i="0">
                <a:solidFill>
                  <a:srgbClr val="D1483B"/>
                </a:solidFill>
                <a:latin typeface="Calibri"/>
              </a:rPr>
              <a:t> ) ]</a:t>
            </a:r>
          </a:p>
        </p:txBody>
      </p:sp>
      <p:sp>
        <p:nvSpPr>
          <p:cNvPr id="15" name="TextBox 14"/>
          <p:cNvSpPr txBox="1"/>
          <p:nvPr/>
        </p:nvSpPr>
        <p:spPr>
          <a:xfrm>
            <a:off x="530352" y="3310128"/>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q</a:t>
            </a:r>
            <a:r>
              <a:rPr sz="1200" b="0" i="0">
                <a:solidFill>
                  <a:srgbClr val="5A6472"/>
                </a:solidFill>
                <a:latin typeface="Calibri"/>
              </a:rPr>
              <a:t>   oil rate (STB/d)</a:t>
            </a:r>
          </a:p>
        </p:txBody>
      </p:sp>
      <p:sp>
        <p:nvSpPr>
          <p:cNvPr id="16" name="TextBox 15"/>
          <p:cNvSpPr txBox="1"/>
          <p:nvPr/>
        </p:nvSpPr>
        <p:spPr>
          <a:xfrm>
            <a:off x="3383280" y="3310128"/>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k</a:t>
            </a:r>
            <a:r>
              <a:rPr sz="1200" b="0" i="0">
                <a:solidFill>
                  <a:srgbClr val="5A6472"/>
                </a:solidFill>
                <a:latin typeface="Calibri"/>
              </a:rPr>
              <a:t>   permeability (md)</a:t>
            </a:r>
          </a:p>
        </p:txBody>
      </p:sp>
      <p:sp>
        <p:nvSpPr>
          <p:cNvPr id="17" name="TextBox 16"/>
          <p:cNvSpPr txBox="1"/>
          <p:nvPr/>
        </p:nvSpPr>
        <p:spPr>
          <a:xfrm>
            <a:off x="530352" y="3877056"/>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h</a:t>
            </a:r>
            <a:r>
              <a:rPr sz="1200" b="0" i="0">
                <a:solidFill>
                  <a:srgbClr val="5A6472"/>
                </a:solidFill>
                <a:latin typeface="Calibri"/>
              </a:rPr>
              <a:t>   net thickness (ft)</a:t>
            </a:r>
          </a:p>
        </p:txBody>
      </p:sp>
      <p:sp>
        <p:nvSpPr>
          <p:cNvPr id="18" name="TextBox 17"/>
          <p:cNvSpPr txBox="1"/>
          <p:nvPr/>
        </p:nvSpPr>
        <p:spPr>
          <a:xfrm>
            <a:off x="3383280" y="3877056"/>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p̄</a:t>
            </a:r>
            <a:r>
              <a:rPr sz="1200" b="0" i="0">
                <a:solidFill>
                  <a:srgbClr val="5A6472"/>
                </a:solidFill>
                <a:latin typeface="Calibri"/>
              </a:rPr>
              <a:t>   average reservoir pressure (psi)</a:t>
            </a:r>
          </a:p>
        </p:txBody>
      </p:sp>
      <p:sp>
        <p:nvSpPr>
          <p:cNvPr id="19" name="TextBox 18"/>
          <p:cNvSpPr txBox="1"/>
          <p:nvPr/>
        </p:nvSpPr>
        <p:spPr>
          <a:xfrm>
            <a:off x="530352" y="4443984"/>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p</a:t>
            </a:r>
            <a:r>
              <a:rPr sz="1500" b="1" i="0" baseline="-25000">
                <a:solidFill>
                  <a:srgbClr val="0B2A4A"/>
                </a:solidFill>
                <a:latin typeface="Calibri"/>
              </a:rPr>
              <a:t>wf</a:t>
            </a:r>
            <a:r>
              <a:rPr sz="1200" b="0" i="0">
                <a:solidFill>
                  <a:srgbClr val="5A6472"/>
                </a:solidFill>
                <a:latin typeface="Calibri"/>
              </a:rPr>
              <a:t>   flowing bottomhole pressure (psi)</a:t>
            </a:r>
          </a:p>
        </p:txBody>
      </p:sp>
      <p:sp>
        <p:nvSpPr>
          <p:cNvPr id="20" name="TextBox 19"/>
          <p:cNvSpPr txBox="1"/>
          <p:nvPr/>
        </p:nvSpPr>
        <p:spPr>
          <a:xfrm>
            <a:off x="3383280" y="4443984"/>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μ</a:t>
            </a:r>
            <a:r>
              <a:rPr sz="1200" b="0" i="0">
                <a:solidFill>
                  <a:srgbClr val="5A6472"/>
                </a:solidFill>
                <a:latin typeface="Calibri"/>
              </a:rPr>
              <a:t>   viscosity (cP)</a:t>
            </a:r>
          </a:p>
        </p:txBody>
      </p:sp>
      <p:sp>
        <p:nvSpPr>
          <p:cNvPr id="21" name="TextBox 20"/>
          <p:cNvSpPr txBox="1"/>
          <p:nvPr/>
        </p:nvSpPr>
        <p:spPr>
          <a:xfrm>
            <a:off x="530352" y="5010912"/>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B</a:t>
            </a:r>
            <a:r>
              <a:rPr sz="1200" b="0" i="0">
                <a:solidFill>
                  <a:srgbClr val="5A6472"/>
                </a:solidFill>
                <a:latin typeface="Calibri"/>
              </a:rPr>
              <a:t>   formation volume factor</a:t>
            </a:r>
          </a:p>
        </p:txBody>
      </p:sp>
      <p:sp>
        <p:nvSpPr>
          <p:cNvPr id="22" name="TextBox 21"/>
          <p:cNvSpPr txBox="1"/>
          <p:nvPr/>
        </p:nvSpPr>
        <p:spPr>
          <a:xfrm>
            <a:off x="3383280" y="5010912"/>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r</a:t>
            </a:r>
            <a:r>
              <a:rPr sz="1500" b="1" i="0" baseline="-25000">
                <a:solidFill>
                  <a:srgbClr val="0B2A4A"/>
                </a:solidFill>
                <a:latin typeface="Calibri"/>
              </a:rPr>
              <a:t>e</a:t>
            </a:r>
            <a:r>
              <a:rPr sz="1500" b="1" i="0">
                <a:solidFill>
                  <a:srgbClr val="0B2A4A"/>
                </a:solidFill>
                <a:latin typeface="Calibri"/>
              </a:rPr>
              <a:t>, r</a:t>
            </a:r>
            <a:r>
              <a:rPr sz="1500" b="1" i="0" baseline="-25000">
                <a:solidFill>
                  <a:srgbClr val="0B2A4A"/>
                </a:solidFill>
                <a:latin typeface="Calibri"/>
              </a:rPr>
              <a:t>w</a:t>
            </a:r>
            <a:r>
              <a:rPr sz="1200" b="0" i="0">
                <a:solidFill>
                  <a:srgbClr val="5A6472"/>
                </a:solidFill>
                <a:latin typeface="Calibri"/>
              </a:rPr>
              <a:t>   drainage / well radius (ft)</a:t>
            </a:r>
          </a:p>
        </p:txBody>
      </p:sp>
      <p:sp>
        <p:nvSpPr>
          <p:cNvPr id="23" name="TextBox 22"/>
          <p:cNvSpPr txBox="1"/>
          <p:nvPr/>
        </p:nvSpPr>
        <p:spPr>
          <a:xfrm>
            <a:off x="530352" y="5577840"/>
            <a:ext cx="2688336" cy="457200"/>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0B2A4A"/>
                </a:solidFill>
                <a:latin typeface="Calibri"/>
              </a:rPr>
              <a:t>S</a:t>
            </a:r>
            <a:r>
              <a:rPr sz="1200" b="0" i="0">
                <a:solidFill>
                  <a:srgbClr val="5A6472"/>
                </a:solidFill>
                <a:latin typeface="Calibri"/>
              </a:rPr>
              <a:t>   skin (dimensionless)</a:t>
            </a:r>
          </a:p>
        </p:txBody>
      </p:sp>
      <p:cxnSp>
        <p:nvCxnSpPr>
          <p:cNvPr id="24" name="Connector 23"/>
          <p:cNvCxnSpPr/>
          <p:nvPr/>
        </p:nvCxnSpPr>
        <p:spPr>
          <a:xfrm>
            <a:off x="6419088" y="3246120"/>
            <a:ext cx="0" cy="2743200"/>
          </a:xfrm>
          <a:prstGeom prst="line">
            <a:avLst/>
          </a:prstGeom>
          <a:ln w="15875">
            <a:solidFill>
              <a:srgbClr val="DCE3E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748272" y="3246120"/>
            <a:ext cx="4937760" cy="274320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Skin adds to the geometric term</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Here ln(r</a:t>
            </a:r>
            <a:r>
              <a:rPr sz="1700" b="0" i="0" baseline="-25000">
                <a:solidFill>
                  <a:srgbClr val="1F2A37"/>
                </a:solidFill>
                <a:latin typeface="Calibri"/>
              </a:rPr>
              <a:t>e</a:t>
            </a:r>
            <a:r>
              <a:rPr sz="1700" b="0" i="0">
                <a:solidFill>
                  <a:srgbClr val="1F2A37"/>
                </a:solidFill>
                <a:latin typeface="Calibri"/>
              </a:rPr>
              <a:t>/r</a:t>
            </a:r>
            <a:r>
              <a:rPr sz="1700" b="0" i="0" baseline="-25000">
                <a:solidFill>
                  <a:srgbClr val="1F2A37"/>
                </a:solidFill>
                <a:latin typeface="Calibri"/>
              </a:rPr>
              <a:t>w</a:t>
            </a:r>
            <a:r>
              <a:rPr sz="1700" b="0" i="0">
                <a:solidFill>
                  <a:srgbClr val="1F2A37"/>
                </a:solidFill>
                <a:latin typeface="Calibri"/>
              </a:rPr>
              <a:t>) − 0.75 ≈ 6.9</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So S ≈ 7 halves the rate</a:t>
            </a:r>
          </a:p>
        </p:txBody>
      </p:sp>
      <p:sp>
        <p:nvSpPr>
          <p:cNvPr id="26" name="TextBox 25"/>
          <p:cNvSpPr txBox="1"/>
          <p:nvPr/>
        </p:nvSpPr>
        <p:spPr>
          <a:xfrm>
            <a:off x="530352" y="6355080"/>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Pseudo-steady-state radial flow, field units. Economides et al.</a:t>
            </a:r>
          </a:p>
        </p:txBody>
      </p:sp>
      <p:sp>
        <p:nvSpPr>
          <p:cNvPr id="27" name="TextBox 26"/>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Damage can occur at every stage of the well's life</a:t>
            </a:r>
          </a:p>
        </p:txBody>
      </p:sp>
      <p:sp>
        <p:nvSpPr>
          <p:cNvPr id="3" name="Rectangle 2"/>
          <p:cNvSpPr/>
          <p:nvPr/>
        </p:nvSpPr>
        <p:spPr>
          <a:xfrm>
            <a:off x="530352"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cxnSp>
        <p:nvCxnSpPr>
          <p:cNvPr id="13" name="Connector 12"/>
          <p:cNvCxnSpPr/>
          <p:nvPr/>
        </p:nvCxnSpPr>
        <p:spPr>
          <a:xfrm>
            <a:off x="1541038" y="1810512"/>
            <a:ext cx="9109618" cy="0"/>
          </a:xfrm>
          <a:prstGeom prst="line">
            <a:avLst/>
          </a:prstGeom>
          <a:ln w="19050">
            <a:solidFill>
              <a:srgbClr val="B9C2C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17594" y="168706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30352" y="1993392"/>
            <a:ext cx="2021372" cy="214884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2377440"/>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Drilling</a:t>
            </a:r>
          </a:p>
        </p:txBody>
      </p:sp>
      <p:sp>
        <p:nvSpPr>
          <p:cNvPr id="17" name="TextBox 16"/>
          <p:cNvSpPr txBox="1"/>
          <p:nvPr/>
        </p:nvSpPr>
        <p:spPr>
          <a:xfrm>
            <a:off x="640080" y="2926080"/>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Mud invasion</a:t>
            </a:r>
          </a:p>
        </p:txBody>
      </p:sp>
      <p:sp>
        <p:nvSpPr>
          <p:cNvPr id="18" name="Oval 17"/>
          <p:cNvSpPr/>
          <p:nvPr/>
        </p:nvSpPr>
        <p:spPr>
          <a:xfrm>
            <a:off x="3694998" y="168706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807756" y="1993392"/>
            <a:ext cx="2021372" cy="214884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917484" y="2377440"/>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Cementing</a:t>
            </a:r>
          </a:p>
        </p:txBody>
      </p:sp>
      <p:sp>
        <p:nvSpPr>
          <p:cNvPr id="21" name="TextBox 20"/>
          <p:cNvSpPr txBox="1"/>
          <p:nvPr/>
        </p:nvSpPr>
        <p:spPr>
          <a:xfrm>
            <a:off x="2917484" y="2926080"/>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Cement filtrate</a:t>
            </a:r>
          </a:p>
        </p:txBody>
      </p:sp>
      <p:sp>
        <p:nvSpPr>
          <p:cNvPr id="22" name="Oval 21"/>
          <p:cNvSpPr/>
          <p:nvPr/>
        </p:nvSpPr>
        <p:spPr>
          <a:xfrm>
            <a:off x="5972403" y="168706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085161" y="1993392"/>
            <a:ext cx="2021372" cy="214884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94889" y="2377440"/>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Completion</a:t>
            </a:r>
          </a:p>
        </p:txBody>
      </p:sp>
      <p:sp>
        <p:nvSpPr>
          <p:cNvPr id="25" name="TextBox 24"/>
          <p:cNvSpPr txBox="1"/>
          <p:nvPr/>
        </p:nvSpPr>
        <p:spPr>
          <a:xfrm>
            <a:off x="5194889" y="2926080"/>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Perforation damage,
completion fluid</a:t>
            </a:r>
          </a:p>
        </p:txBody>
      </p:sp>
      <p:sp>
        <p:nvSpPr>
          <p:cNvPr id="26" name="Oval 25"/>
          <p:cNvSpPr/>
          <p:nvPr/>
        </p:nvSpPr>
        <p:spPr>
          <a:xfrm>
            <a:off x="8249808" y="168706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362565" y="1993392"/>
            <a:ext cx="2021372" cy="214884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72293" y="2377440"/>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Workover</a:t>
            </a:r>
          </a:p>
        </p:txBody>
      </p:sp>
      <p:sp>
        <p:nvSpPr>
          <p:cNvPr id="29" name="TextBox 28"/>
          <p:cNvSpPr txBox="1"/>
          <p:nvPr/>
        </p:nvSpPr>
        <p:spPr>
          <a:xfrm>
            <a:off x="7472293" y="2926080"/>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Kill-fluid loss</a:t>
            </a:r>
          </a:p>
        </p:txBody>
      </p:sp>
      <p:sp>
        <p:nvSpPr>
          <p:cNvPr id="30" name="Oval 29"/>
          <p:cNvSpPr/>
          <p:nvPr/>
        </p:nvSpPr>
        <p:spPr>
          <a:xfrm>
            <a:off x="10527212" y="1687068"/>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639970" y="1993392"/>
            <a:ext cx="2021372" cy="214884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749698" y="2377440"/>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Production</a:t>
            </a:r>
          </a:p>
        </p:txBody>
      </p:sp>
      <p:sp>
        <p:nvSpPr>
          <p:cNvPr id="33" name="TextBox 32"/>
          <p:cNvSpPr txBox="1"/>
          <p:nvPr/>
        </p:nvSpPr>
        <p:spPr>
          <a:xfrm>
            <a:off x="9749698" y="2926080"/>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Scale, fines,
asphaltenes</a:t>
            </a:r>
          </a:p>
        </p:txBody>
      </p:sp>
      <p:sp>
        <p:nvSpPr>
          <p:cNvPr id="34" name="TextBox 33"/>
          <p:cNvSpPr txBox="1"/>
          <p:nvPr/>
        </p:nvSpPr>
        <p:spPr>
          <a:xfrm>
            <a:off x="1417594" y="1691640"/>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1</a:t>
            </a:r>
          </a:p>
        </p:txBody>
      </p:sp>
      <p:sp>
        <p:nvSpPr>
          <p:cNvPr id="35" name="TextBox 34"/>
          <p:cNvSpPr txBox="1"/>
          <p:nvPr/>
        </p:nvSpPr>
        <p:spPr>
          <a:xfrm>
            <a:off x="3694998" y="1691640"/>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2</a:t>
            </a:r>
          </a:p>
        </p:txBody>
      </p:sp>
      <p:sp>
        <p:nvSpPr>
          <p:cNvPr id="36" name="TextBox 35"/>
          <p:cNvSpPr txBox="1"/>
          <p:nvPr/>
        </p:nvSpPr>
        <p:spPr>
          <a:xfrm>
            <a:off x="5972403" y="1691640"/>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3</a:t>
            </a:r>
          </a:p>
        </p:txBody>
      </p:sp>
      <p:sp>
        <p:nvSpPr>
          <p:cNvPr id="37" name="TextBox 36"/>
          <p:cNvSpPr txBox="1"/>
          <p:nvPr/>
        </p:nvSpPr>
        <p:spPr>
          <a:xfrm>
            <a:off x="8249808" y="1691640"/>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4</a:t>
            </a:r>
          </a:p>
        </p:txBody>
      </p:sp>
      <p:sp>
        <p:nvSpPr>
          <p:cNvPr id="38" name="TextBox 37"/>
          <p:cNvSpPr txBox="1"/>
          <p:nvPr/>
        </p:nvSpPr>
        <p:spPr>
          <a:xfrm>
            <a:off x="10527212" y="1691640"/>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5</a:t>
            </a:r>
          </a:p>
        </p:txBody>
      </p:sp>
      <p:sp>
        <p:nvSpPr>
          <p:cNvPr id="39" name="Rectangle 38"/>
          <p:cNvSpPr/>
          <p:nvPr/>
        </p:nvSpPr>
        <p:spPr>
          <a:xfrm>
            <a:off x="530352" y="4526280"/>
            <a:ext cx="11130991" cy="713232"/>
          </a:xfrm>
          <a:prstGeom prst="rect">
            <a:avLst/>
          </a:prstGeom>
          <a:solidFill>
            <a:srgbClr val="FDF3E0"/>
          </a:solidFill>
          <a:ln w="1905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530352" y="4718304"/>
            <a:ext cx="11130991" cy="365760"/>
          </a:xfrm>
          <a:prstGeom prst="rect">
            <a:avLst/>
          </a:prstGeom>
          <a:noFill/>
        </p:spPr>
        <p:txBody>
          <a:bodyPr wrap="square" lIns="0" rIns="0" tIns="0" bIns="0" anchor="t">
            <a:spAutoFit/>
          </a:bodyPr>
          <a:lstStyle/>
          <a:p>
            <a:pPr algn="ctr">
              <a:lnSpc>
                <a:spcPct val="120000"/>
              </a:lnSpc>
              <a:spcBef>
                <a:spcPts val="0"/>
              </a:spcBef>
              <a:spcAft>
                <a:spcPts val="0"/>
              </a:spcAft>
            </a:pPr>
            <a:r>
              <a:rPr sz="1800" b="1" i="0">
                <a:solidFill>
                  <a:srgbClr val="8C6D10"/>
                </a:solidFill>
                <a:latin typeface="Calibri"/>
              </a:rPr>
              <a:t>This talk focuses on drilling-fluid damage</a:t>
            </a:r>
          </a:p>
        </p:txBody>
      </p:sp>
      <p:sp>
        <p:nvSpPr>
          <p:cNvPr id="41" name="TextBox 40"/>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Adapted from Krueger (1986).</a:t>
            </a:r>
          </a:p>
        </p:txBody>
      </p:sp>
      <p:sp>
        <p:nvSpPr>
          <p:cNvPr id="42" name="TextBox 41"/>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Drilling-fluid invasion is the primary source of damage</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38912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Overbalance pushes fluid into the rock</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Spurt loss, then filtrate, then filter cake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Severity grows with overbalance and exposure time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Mud properties and permeability also matter</a:t>
            </a:r>
          </a:p>
        </p:txBody>
      </p:sp>
      <p:pic>
        <p:nvPicPr>
          <p:cNvPr id="14" name="Picture 13" descr="s9_invasion.png"/>
          <p:cNvPicPr>
            <a:picLocks noChangeAspect="1"/>
          </p:cNvPicPr>
          <p:nvPr/>
        </p:nvPicPr>
        <p:blipFill>
          <a:blip r:embed="rId2"/>
          <a:stretch>
            <a:fillRect/>
          </a:stretch>
        </p:blipFill>
        <p:spPr>
          <a:xfrm>
            <a:off x="5120640" y="1810512"/>
            <a:ext cx="6263640" cy="4394650"/>
          </a:xfrm>
          <a:prstGeom prst="rect">
            <a:avLst/>
          </a:prstGeom>
        </p:spPr>
      </p:pic>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Solids and fines plug pore throats</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38912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Mud solids bridge or enter pore throats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Formation fines detach and migrate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Result: severe, hard-to-reverse permeability loss</a:t>
            </a:r>
          </a:p>
        </p:txBody>
      </p:sp>
      <p:pic>
        <p:nvPicPr>
          <p:cNvPr id="14" name="Picture 13" descr="s10_solids.png"/>
          <p:cNvPicPr>
            <a:picLocks noChangeAspect="1"/>
          </p:cNvPicPr>
          <p:nvPr/>
        </p:nvPicPr>
        <p:blipFill>
          <a:blip r:embed="rId2"/>
          <a:stretch>
            <a:fillRect/>
          </a:stretch>
        </p:blipFill>
        <p:spPr>
          <a:xfrm>
            <a:off x="5120640" y="1810512"/>
            <a:ext cx="6263640" cy="4425846"/>
          </a:xfrm>
          <a:prstGeom prst="rect">
            <a:avLst/>
          </a:prstGeom>
        </p:spPr>
      </p:pic>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 [Or: SEM image, source, year]</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Incompatible water makes clays swell and migrate</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graphicFrame>
        <p:nvGraphicFramePr>
          <p:cNvPr id="13" name="Table 12"/>
          <p:cNvGraphicFramePr>
            <a:graphicFrameLocks noGrp="1"/>
          </p:cNvGraphicFramePr>
          <p:nvPr/>
        </p:nvGraphicFramePr>
        <p:xfrm>
          <a:off x="530352" y="1828800"/>
          <a:ext cx="6355080" cy="3108960"/>
        </p:xfrm>
        <a:graphic>
          <a:graphicData uri="http://schemas.openxmlformats.org/drawingml/2006/table">
            <a:tbl>
              <a:tblPr firstRow="1">
                <a:tableStyleId>{5C22544A-7EE6-4342-B048-85BDC9FD1C3A}</a:tableStyleId>
              </a:tblPr>
              <a:tblGrid>
                <a:gridCol w="2194560"/>
                <a:gridCol w="4160520"/>
              </a:tblGrid>
              <a:tr h="475488">
                <a:tc>
                  <a:txBody>
                    <a:bodyPr wrap="square"/>
                    <a:lstStyle/>
                    <a:p>
                      <a:pPr>
                        <a:lnSpc>
                          <a:spcPct val="105000"/>
                        </a:lnSpc>
                      </a:pPr>
                      <a:r>
                        <a:rPr sz="1400" b="1" i="0">
                          <a:solidFill>
                            <a:srgbClr val="FFFFFF"/>
                          </a:solidFill>
                          <a:latin typeface="Calibri"/>
                        </a:rPr>
                        <a:t>Clay</a:t>
                      </a:r>
                    </a:p>
                  </a:txBody>
                  <a:tcPr marL="91440" marR="73152" marT="41148" marB="41148" anchor="ctr">
                    <a:solidFill>
                      <a:srgbClr val="0B2A4A"/>
                    </a:solidFill>
                  </a:tcPr>
                </a:tc>
                <a:tc>
                  <a:txBody>
                    <a:bodyPr wrap="square"/>
                    <a:lstStyle/>
                    <a:p>
                      <a:pPr>
                        <a:lnSpc>
                          <a:spcPct val="105000"/>
                        </a:lnSpc>
                      </a:pPr>
                      <a:r>
                        <a:rPr sz="1400" b="1" i="0">
                          <a:solidFill>
                            <a:srgbClr val="FFFFFF"/>
                          </a:solidFill>
                          <a:latin typeface="Calibri"/>
                        </a:rPr>
                        <a:t>Main damage behaviour</a:t>
                      </a:r>
                    </a:p>
                  </a:txBody>
                  <a:tcPr marL="91440" marR="73152" marT="41148" marB="41148" anchor="ctr">
                    <a:solidFill>
                      <a:srgbClr val="0B2A4A"/>
                    </a:solidFill>
                  </a:tcPr>
                </a:tc>
              </a:tr>
              <a:tr h="658368">
                <a:tc>
                  <a:txBody>
                    <a:bodyPr wrap="square"/>
                    <a:lstStyle/>
                    <a:p>
                      <a:pPr>
                        <a:lnSpc>
                          <a:spcPct val="105000"/>
                        </a:lnSpc>
                      </a:pPr>
                      <a:r>
                        <a:rPr sz="1400" b="1" i="0">
                          <a:solidFill>
                            <a:srgbClr val="0B2A4A"/>
                          </a:solidFill>
                          <a:latin typeface="Calibri"/>
                        </a:rPr>
                        <a:t>Smectite</a:t>
                      </a:r>
                    </a:p>
                  </a:txBody>
                  <a:tcPr marL="91440" marR="73152" marT="41148" marB="41148" anchor="ctr">
                    <a:solidFill>
                      <a:srgbClr val="FFFFFF"/>
                    </a:solidFill>
                  </a:tcPr>
                </a:tc>
                <a:tc>
                  <a:txBody>
                    <a:bodyPr wrap="square"/>
                    <a:lstStyle/>
                    <a:p>
                      <a:pPr>
                        <a:lnSpc>
                          <a:spcPct val="105000"/>
                        </a:lnSpc>
                      </a:pPr>
                      <a:r>
                        <a:rPr sz="1400" b="0" i="0">
                          <a:solidFill>
                            <a:srgbClr val="1F2A37"/>
                          </a:solidFill>
                          <a:latin typeface="Calibri"/>
                        </a:rPr>
                        <a:t>Swells, blocks pores</a:t>
                      </a:r>
                    </a:p>
                  </a:txBody>
                  <a:tcPr marL="91440" marR="73152" marT="41148" marB="41148" anchor="ctr">
                    <a:solidFill>
                      <a:srgbClr val="FFFFFF"/>
                    </a:solidFill>
                  </a:tcPr>
                </a:tc>
              </a:tr>
              <a:tr h="658368">
                <a:tc>
                  <a:txBody>
                    <a:bodyPr wrap="square"/>
                    <a:lstStyle/>
                    <a:p>
                      <a:pPr>
                        <a:lnSpc>
                          <a:spcPct val="105000"/>
                        </a:lnSpc>
                      </a:pPr>
                      <a:r>
                        <a:rPr sz="1400" b="1" i="0">
                          <a:solidFill>
                            <a:srgbClr val="0B2A4A"/>
                          </a:solidFill>
                          <a:latin typeface="Calibri"/>
                        </a:rPr>
                        <a:t>Illite</a:t>
                      </a:r>
                    </a:p>
                  </a:txBody>
                  <a:tcPr marL="91440" marR="73152" marT="41148" marB="41148" anchor="ctr">
                    <a:solidFill>
                      <a:srgbClr val="F2F5F9"/>
                    </a:solidFill>
                  </a:tcPr>
                </a:tc>
                <a:tc>
                  <a:txBody>
                    <a:bodyPr wrap="square"/>
                    <a:lstStyle/>
                    <a:p>
                      <a:pPr>
                        <a:lnSpc>
                          <a:spcPct val="105000"/>
                        </a:lnSpc>
                      </a:pPr>
                      <a:r>
                        <a:rPr sz="1400" b="0" i="0">
                          <a:solidFill>
                            <a:srgbClr val="1F2A37"/>
                          </a:solidFill>
                          <a:latin typeface="Calibri"/>
                        </a:rPr>
                        <a:t>Migrates as fines</a:t>
                      </a:r>
                    </a:p>
                  </a:txBody>
                  <a:tcPr marL="91440" marR="73152" marT="41148" marB="41148" anchor="ctr">
                    <a:solidFill>
                      <a:srgbClr val="F2F5F9"/>
                    </a:solidFill>
                  </a:tcPr>
                </a:tc>
              </a:tr>
              <a:tr h="658368">
                <a:tc>
                  <a:txBody>
                    <a:bodyPr wrap="square"/>
                    <a:lstStyle/>
                    <a:p>
                      <a:pPr>
                        <a:lnSpc>
                          <a:spcPct val="105000"/>
                        </a:lnSpc>
                      </a:pPr>
                      <a:r>
                        <a:rPr sz="1400" b="1" i="0">
                          <a:solidFill>
                            <a:srgbClr val="0B2A4A"/>
                          </a:solidFill>
                          <a:latin typeface="Calibri"/>
                        </a:rPr>
                        <a:t>Kaolinite</a:t>
                      </a:r>
                    </a:p>
                  </a:txBody>
                  <a:tcPr marL="91440" marR="73152" marT="41148" marB="41148" anchor="ctr">
                    <a:solidFill>
                      <a:srgbClr val="FFFFFF"/>
                    </a:solidFill>
                  </a:tcPr>
                </a:tc>
                <a:tc>
                  <a:txBody>
                    <a:bodyPr wrap="square"/>
                    <a:lstStyle/>
                    <a:p>
                      <a:pPr>
                        <a:lnSpc>
                          <a:spcPct val="105000"/>
                        </a:lnSpc>
                      </a:pPr>
                      <a:r>
                        <a:rPr sz="1400" b="0" i="0">
                          <a:solidFill>
                            <a:srgbClr val="1F2A37"/>
                          </a:solidFill>
                          <a:latin typeface="Calibri"/>
                        </a:rPr>
                        <a:t>Detaches and migrates</a:t>
                      </a:r>
                    </a:p>
                  </a:txBody>
                  <a:tcPr marL="91440" marR="73152" marT="41148" marB="41148" anchor="ctr">
                    <a:solidFill>
                      <a:srgbClr val="FFFFFF"/>
                    </a:solidFill>
                  </a:tcPr>
                </a:tc>
              </a:tr>
              <a:tr h="658368">
                <a:tc>
                  <a:txBody>
                    <a:bodyPr wrap="square"/>
                    <a:lstStyle/>
                    <a:p>
                      <a:pPr>
                        <a:lnSpc>
                          <a:spcPct val="105000"/>
                        </a:lnSpc>
                      </a:pPr>
                      <a:r>
                        <a:rPr sz="1400" b="1" i="0">
                          <a:solidFill>
                            <a:srgbClr val="0B2A4A"/>
                          </a:solidFill>
                          <a:latin typeface="Calibri"/>
                        </a:rPr>
                        <a:t>Chlorite</a:t>
                      </a:r>
                    </a:p>
                  </a:txBody>
                  <a:tcPr marL="91440" marR="73152" marT="41148" marB="41148" anchor="ctr">
                    <a:solidFill>
                      <a:srgbClr val="F2F5F9"/>
                    </a:solidFill>
                  </a:tcPr>
                </a:tc>
                <a:tc>
                  <a:txBody>
                    <a:bodyPr wrap="square"/>
                    <a:lstStyle/>
                    <a:p>
                      <a:pPr>
                        <a:lnSpc>
                          <a:spcPct val="105000"/>
                        </a:lnSpc>
                      </a:pPr>
                      <a:r>
                        <a:rPr sz="1400" b="0" i="0">
                          <a:solidFill>
                            <a:srgbClr val="1F2A37"/>
                          </a:solidFill>
                          <a:latin typeface="Calibri"/>
                        </a:rPr>
                        <a:t>Iron precipitates with acid</a:t>
                      </a:r>
                    </a:p>
                  </a:txBody>
                  <a:tcPr marL="91440" marR="73152" marT="41148" marB="41148" anchor="ctr">
                    <a:solidFill>
                      <a:srgbClr val="F2F5F9"/>
                    </a:solidFill>
                  </a:tcPr>
                </a:tc>
              </a:tr>
            </a:tbl>
          </a:graphicData>
        </a:graphic>
      </p:graphicFrame>
      <p:sp>
        <p:nvSpPr>
          <p:cNvPr id="14" name="TextBox 13"/>
          <p:cNvSpPr txBox="1"/>
          <p:nvPr/>
        </p:nvSpPr>
        <p:spPr>
          <a:xfrm>
            <a:off x="7178040" y="1920240"/>
            <a:ext cx="4480560" cy="274320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Fresh filtrate triggers swelling and dispersion</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Salinity and ion composition matter</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Fix: KCl brines, clay stabilizers</a:t>
            </a:r>
          </a:p>
        </p:txBody>
      </p:sp>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Simplified from Civan, Reservoir Formation Damage.</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Capillary forces trap filtrate near the wellbore</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74519"/>
            <a:ext cx="4251960" cy="237744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Water block cuts hydrocarbon relative permeability</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Strongest in low-permeability rock</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Emulsions and wettability change add resistance</a:t>
            </a:r>
          </a:p>
        </p:txBody>
      </p:sp>
      <p:sp>
        <p:nvSpPr>
          <p:cNvPr id="14" name="Rectangle 13"/>
          <p:cNvSpPr/>
          <p:nvPr/>
        </p:nvSpPr>
        <p:spPr>
          <a:xfrm>
            <a:off x="530352" y="3886200"/>
            <a:ext cx="4251960" cy="1965960"/>
          </a:xfrm>
          <a:prstGeom prst="rect">
            <a:avLst/>
          </a:prstGeom>
          <a:solidFill>
            <a:srgbClr val="EAF1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530352" y="4160520"/>
            <a:ext cx="4251960" cy="457200"/>
          </a:xfrm>
          <a:prstGeom prst="rect">
            <a:avLst/>
          </a:prstGeom>
          <a:noFill/>
        </p:spPr>
        <p:txBody>
          <a:bodyPr wrap="square" lIns="0" rIns="0" tIns="0" bIns="0" anchor="t">
            <a:spAutoFit/>
          </a:bodyPr>
          <a:lstStyle/>
          <a:p>
            <a:pPr algn="ctr">
              <a:lnSpc>
                <a:spcPct val="120000"/>
              </a:lnSpc>
              <a:spcBef>
                <a:spcPts val="0"/>
              </a:spcBef>
              <a:spcAft>
                <a:spcPts val="0"/>
              </a:spcAft>
            </a:pPr>
            <a:r>
              <a:rPr sz="2500" b="1" i="0">
                <a:solidFill>
                  <a:srgbClr val="0B2A4A"/>
                </a:solidFill>
                <a:latin typeface="Calibri"/>
              </a:rPr>
              <a:t>P</a:t>
            </a:r>
            <a:r>
              <a:rPr sz="2500" b="1" i="0" baseline="-25000">
                <a:solidFill>
                  <a:srgbClr val="0B2A4A"/>
                </a:solidFill>
                <a:latin typeface="Calibri"/>
              </a:rPr>
              <a:t>c</a:t>
            </a:r>
            <a:r>
              <a:rPr sz="2500" b="1" i="0">
                <a:solidFill>
                  <a:srgbClr val="0B2A4A"/>
                </a:solidFill>
                <a:latin typeface="Calibri"/>
              </a:rPr>
              <a:t> = 2σ cosθ / r</a:t>
            </a:r>
          </a:p>
        </p:txBody>
      </p:sp>
      <p:sp>
        <p:nvSpPr>
          <p:cNvPr id="16" name="TextBox 15"/>
          <p:cNvSpPr txBox="1"/>
          <p:nvPr/>
        </p:nvSpPr>
        <p:spPr>
          <a:xfrm>
            <a:off x="758952" y="4800600"/>
            <a:ext cx="3794760" cy="731520"/>
          </a:xfrm>
          <a:prstGeom prst="rect">
            <a:avLst/>
          </a:prstGeom>
          <a:noFill/>
        </p:spPr>
        <p:txBody>
          <a:bodyPr wrap="square" lIns="0" rIns="0" tIns="0" bIns="0" anchor="t">
            <a:spAutoFit/>
          </a:bodyPr>
          <a:lstStyle/>
          <a:p>
            <a:pPr algn="ctr">
              <a:lnSpc>
                <a:spcPct val="125000"/>
              </a:lnSpc>
              <a:spcBef>
                <a:spcPts val="0"/>
              </a:spcBef>
              <a:spcAft>
                <a:spcPts val="0"/>
              </a:spcAft>
            </a:pPr>
            <a:r>
              <a:rPr sz="1200" b="0" i="0">
                <a:solidFill>
                  <a:srgbClr val="5A6472"/>
                </a:solidFill>
                <a:latin typeface="Calibri"/>
              </a:rPr>
              <a:t>(σ = interfacial tension, θ = contact angle, r = pore-throat radius)</a:t>
            </a:r>
          </a:p>
        </p:txBody>
      </p:sp>
      <p:pic>
        <p:nvPicPr>
          <p:cNvPr id="17" name="Picture 16" descr="s12_capillary.png"/>
          <p:cNvPicPr>
            <a:picLocks noChangeAspect="1"/>
          </p:cNvPicPr>
          <p:nvPr/>
        </p:nvPicPr>
        <p:blipFill>
          <a:blip r:embed="rId2"/>
          <a:stretch>
            <a:fillRect/>
          </a:stretch>
        </p:blipFill>
        <p:spPr>
          <a:xfrm>
            <a:off x="5074920" y="2468880"/>
            <a:ext cx="6629400" cy="3087112"/>
          </a:xfrm>
          <a:prstGeom prst="rect">
            <a:avLst/>
          </a:prstGeom>
        </p:spPr>
      </p:pic>
      <p:sp>
        <p:nvSpPr>
          <p:cNvPr id="18" name="TextBox 17"/>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a:t>
            </a:r>
          </a:p>
        </p:txBody>
      </p:sp>
      <p:sp>
        <p:nvSpPr>
          <p:cNvPr id="19" name="TextBox 18"/>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Fluid incompatibility creates precipitates in the pores</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38912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Filtrate + brine can form CaCO</a:t>
            </a:r>
            <a:r>
              <a:rPr sz="1700" b="0" i="0" baseline="-25000">
                <a:solidFill>
                  <a:srgbClr val="1F2A37"/>
                </a:solidFill>
                <a:latin typeface="Calibri"/>
              </a:rPr>
              <a:t>3</a:t>
            </a:r>
            <a:r>
              <a:rPr sz="1700" b="0" i="0">
                <a:solidFill>
                  <a:srgbClr val="1F2A37"/>
                </a:solidFill>
                <a:latin typeface="Calibri"/>
              </a:rPr>
              <a:t>, CaSO</a:t>
            </a:r>
            <a:r>
              <a:rPr sz="1700" b="0" i="0" baseline="-25000">
                <a:solidFill>
                  <a:srgbClr val="1F2A37"/>
                </a:solidFill>
                <a:latin typeface="Calibri"/>
              </a:rPr>
              <a:t>4</a:t>
            </a:r>
            <a:r>
              <a:rPr sz="1700" b="0" i="0">
                <a:solidFill>
                  <a:srgbClr val="1F2A37"/>
                </a:solidFill>
                <a:latin typeface="Calibri"/>
              </a:rPr>
              <a:t>, BaSO</a:t>
            </a:r>
            <a:r>
              <a:rPr sz="1700" b="0" i="0" baseline="-25000">
                <a:solidFill>
                  <a:srgbClr val="1F2A37"/>
                </a:solidFill>
                <a:latin typeface="Calibri"/>
              </a:rPr>
              <a:t>4</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Acids or high-pH fluids: gels, sludges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Prevent: lab compatibility tests before pumping</a:t>
            </a:r>
          </a:p>
        </p:txBody>
      </p:sp>
      <p:pic>
        <p:nvPicPr>
          <p:cNvPr id="14" name="Picture 13" descr="s13_precip.png"/>
          <p:cNvPicPr>
            <a:picLocks noChangeAspect="1"/>
          </p:cNvPicPr>
          <p:nvPr/>
        </p:nvPicPr>
        <p:blipFill>
          <a:blip r:embed="rId2"/>
          <a:stretch>
            <a:fillRect/>
          </a:stretch>
        </p:blipFill>
        <p:spPr>
          <a:xfrm>
            <a:off x="4983480" y="2468880"/>
            <a:ext cx="6766560" cy="3065715"/>
          </a:xfrm>
          <a:prstGeom prst="rect">
            <a:avLst/>
          </a:prstGeom>
        </p:spPr>
      </p:pic>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Damage is detected by tests and production data</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graphicFrame>
        <p:nvGraphicFramePr>
          <p:cNvPr id="13" name="Table 12"/>
          <p:cNvGraphicFramePr>
            <a:graphicFrameLocks noGrp="1"/>
          </p:cNvGraphicFramePr>
          <p:nvPr/>
        </p:nvGraphicFramePr>
        <p:xfrm>
          <a:off x="530352" y="1828800"/>
          <a:ext cx="5897880" cy="3200400"/>
        </p:xfrm>
        <a:graphic>
          <a:graphicData uri="http://schemas.openxmlformats.org/drawingml/2006/table">
            <a:tbl>
              <a:tblPr firstRow="1">
                <a:tableStyleId>{5C22544A-7EE6-4342-B048-85BDC9FD1C3A}</a:tableStyleId>
              </a:tblPr>
              <a:tblGrid>
                <a:gridCol w="2514600"/>
                <a:gridCol w="3383280"/>
              </a:tblGrid>
              <a:tr h="457200">
                <a:tc>
                  <a:txBody>
                    <a:bodyPr wrap="square"/>
                    <a:lstStyle/>
                    <a:p>
                      <a:pPr>
                        <a:lnSpc>
                          <a:spcPct val="105000"/>
                        </a:lnSpc>
                      </a:pPr>
                      <a:r>
                        <a:rPr sz="1350" b="1" i="0">
                          <a:solidFill>
                            <a:srgbClr val="FFFFFF"/>
                          </a:solidFill>
                          <a:latin typeface="Calibri"/>
                        </a:rPr>
                        <a:t>Method</a:t>
                      </a:r>
                    </a:p>
                  </a:txBody>
                  <a:tcPr marL="91440" marR="73152" marT="41148" marB="41148" anchor="ctr">
                    <a:solidFill>
                      <a:srgbClr val="0B2A4A"/>
                    </a:solidFill>
                  </a:tcPr>
                </a:tc>
                <a:tc>
                  <a:txBody>
                    <a:bodyPr wrap="square"/>
                    <a:lstStyle/>
                    <a:p>
                      <a:pPr>
                        <a:lnSpc>
                          <a:spcPct val="105000"/>
                        </a:lnSpc>
                      </a:pPr>
                      <a:r>
                        <a:rPr sz="1350" b="1" i="0">
                          <a:solidFill>
                            <a:srgbClr val="FFFFFF"/>
                          </a:solidFill>
                          <a:latin typeface="Calibri"/>
                        </a:rPr>
                        <a:t>What it shows</a:t>
                      </a:r>
                    </a:p>
                  </a:txBody>
                  <a:tcPr marL="91440" marR="73152" marT="41148" marB="41148" anchor="ctr">
                    <a:solidFill>
                      <a:srgbClr val="0B2A4A"/>
                    </a:solidFill>
                  </a:tcPr>
                </a:tc>
              </a:tr>
              <a:tr h="548640">
                <a:tc>
                  <a:txBody>
                    <a:bodyPr wrap="square"/>
                    <a:lstStyle/>
                    <a:p>
                      <a:pPr>
                        <a:lnSpc>
                          <a:spcPct val="105000"/>
                        </a:lnSpc>
                      </a:pPr>
                      <a:r>
                        <a:rPr sz="1350" b="1" i="0">
                          <a:solidFill>
                            <a:srgbClr val="0B2A4A"/>
                          </a:solidFill>
                          <a:latin typeface="Calibri"/>
                        </a:rPr>
                        <a:t>Pressure buildup test</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Total skin</a:t>
                      </a:r>
                    </a:p>
                  </a:txBody>
                  <a:tcPr marL="91440" marR="73152" marT="41148" marB="41148" anchor="ctr">
                    <a:solidFill>
                      <a:srgbClr val="FFFFFF"/>
                    </a:solidFill>
                  </a:tcPr>
                </a:tc>
              </a:tr>
              <a:tr h="548640">
                <a:tc>
                  <a:txBody>
                    <a:bodyPr wrap="square"/>
                    <a:lstStyle/>
                    <a:p>
                      <a:pPr>
                        <a:lnSpc>
                          <a:spcPct val="105000"/>
                        </a:lnSpc>
                      </a:pPr>
                      <a:r>
                        <a:rPr sz="1350" b="1" i="0">
                          <a:solidFill>
                            <a:srgbClr val="0B2A4A"/>
                          </a:solidFill>
                          <a:latin typeface="Calibri"/>
                        </a:rPr>
                        <a:t>PI versus offset wells</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Underperformance</a:t>
                      </a:r>
                    </a:p>
                  </a:txBody>
                  <a:tcPr marL="91440" marR="73152" marT="41148" marB="41148" anchor="ctr">
                    <a:solidFill>
                      <a:srgbClr val="F2F5F9"/>
                    </a:solidFill>
                  </a:tcPr>
                </a:tc>
              </a:tr>
              <a:tr h="548640">
                <a:tc>
                  <a:txBody>
                    <a:bodyPr wrap="square"/>
                    <a:lstStyle/>
                    <a:p>
                      <a:pPr>
                        <a:lnSpc>
                          <a:spcPct val="105000"/>
                        </a:lnSpc>
                      </a:pPr>
                      <a:r>
                        <a:rPr sz="1350" b="1" i="0">
                          <a:solidFill>
                            <a:srgbClr val="0B2A4A"/>
                          </a:solidFill>
                          <a:latin typeface="Calibri"/>
                        </a:rPr>
                        <a:t>Core flow test</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Return permeability</a:t>
                      </a:r>
                    </a:p>
                  </a:txBody>
                  <a:tcPr marL="91440" marR="73152" marT="41148" marB="41148" anchor="ctr">
                    <a:solidFill>
                      <a:srgbClr val="FFFFFF"/>
                    </a:solidFill>
                  </a:tcPr>
                </a:tc>
              </a:tr>
              <a:tr h="548640">
                <a:tc>
                  <a:txBody>
                    <a:bodyPr wrap="square"/>
                    <a:lstStyle/>
                    <a:p>
                      <a:pPr>
                        <a:lnSpc>
                          <a:spcPct val="105000"/>
                        </a:lnSpc>
                      </a:pPr>
                      <a:r>
                        <a:rPr sz="1350" b="1" i="0">
                          <a:solidFill>
                            <a:srgbClr val="0B2A4A"/>
                          </a:solidFill>
                          <a:latin typeface="Calibri"/>
                        </a:rPr>
                        <a:t>Production logging</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Inflow profile</a:t>
                      </a:r>
                    </a:p>
                  </a:txBody>
                  <a:tcPr marL="91440" marR="73152" marT="41148" marB="41148" anchor="ctr">
                    <a:solidFill>
                      <a:srgbClr val="F2F5F9"/>
                    </a:solidFill>
                  </a:tcPr>
                </a:tc>
              </a:tr>
              <a:tr h="548640">
                <a:tc>
                  <a:txBody>
                    <a:bodyPr wrap="square"/>
                    <a:lstStyle/>
                    <a:p>
                      <a:pPr>
                        <a:lnSpc>
                          <a:spcPct val="105000"/>
                        </a:lnSpc>
                      </a:pPr>
                      <a:r>
                        <a:rPr sz="1350" b="1" i="0">
                          <a:solidFill>
                            <a:srgbClr val="0B2A4A"/>
                          </a:solidFill>
                          <a:latin typeface="Calibri"/>
                        </a:rPr>
                        <a:t>Nodal analysis</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Expected versus actual rate</a:t>
                      </a:r>
                    </a:p>
                  </a:txBody>
                  <a:tcPr marL="91440" marR="73152" marT="41148" marB="41148" anchor="ctr">
                    <a:solidFill>
                      <a:srgbClr val="FFFFFF"/>
                    </a:solidFill>
                  </a:tcPr>
                </a:tc>
              </a:tr>
            </a:tbl>
          </a:graphicData>
        </a:graphic>
      </p:graphicFrame>
      <p:sp>
        <p:nvSpPr>
          <p:cNvPr id="14" name="Rectangle 13"/>
          <p:cNvSpPr/>
          <p:nvPr/>
        </p:nvSpPr>
        <p:spPr>
          <a:xfrm>
            <a:off x="530352" y="4983480"/>
            <a:ext cx="5897880" cy="1005840"/>
          </a:xfrm>
          <a:prstGeom prst="rect">
            <a:avLst/>
          </a:prstGeom>
          <a:solidFill>
            <a:srgbClr val="F2F5F9"/>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31519" y="5138928"/>
            <a:ext cx="5532120" cy="777240"/>
          </a:xfrm>
          <a:prstGeom prst="rect">
            <a:avLst/>
          </a:prstGeom>
          <a:noFill/>
        </p:spPr>
        <p:txBody>
          <a:bodyPr wrap="square" lIns="0" rIns="0" tIns="0" bIns="0" anchor="t">
            <a:spAutoFit/>
          </a:bodyPr>
          <a:lstStyle/>
          <a:p>
            <a:pPr algn="l">
              <a:lnSpc>
                <a:spcPct val="125000"/>
              </a:lnSpc>
              <a:spcBef>
                <a:spcPts val="0"/>
              </a:spcBef>
              <a:spcAft>
                <a:spcPts val="200"/>
              </a:spcAft>
            </a:pPr>
            <a:r>
              <a:rPr sz="1400" b="1" i="0">
                <a:solidFill>
                  <a:srgbClr val="0B2A4A"/>
                </a:solidFill>
                <a:latin typeface="Calibri"/>
              </a:rPr>
              <a:t>Return permeability = k</a:t>
            </a:r>
            <a:r>
              <a:rPr sz="1400" b="1" i="0" baseline="-25000">
                <a:solidFill>
                  <a:srgbClr val="0B2A4A"/>
                </a:solidFill>
                <a:latin typeface="Calibri"/>
              </a:rPr>
              <a:t>after</a:t>
            </a:r>
            <a:r>
              <a:rPr sz="1400" b="1" i="0">
                <a:solidFill>
                  <a:srgbClr val="0B2A4A"/>
                </a:solidFill>
                <a:latin typeface="Calibri"/>
              </a:rPr>
              <a:t> / k</a:t>
            </a:r>
            <a:r>
              <a:rPr sz="1400" b="1" i="0" baseline="-25000">
                <a:solidFill>
                  <a:srgbClr val="0B2A4A"/>
                </a:solidFill>
                <a:latin typeface="Calibri"/>
              </a:rPr>
              <a:t>before</a:t>
            </a:r>
          </a:p>
          <a:p>
            <a:pPr algn="l">
              <a:lnSpc>
                <a:spcPct val="125000"/>
              </a:lnSpc>
              <a:spcBef>
                <a:spcPts val="0"/>
              </a:spcBef>
              <a:spcAft>
                <a:spcPts val="0"/>
              </a:spcAft>
            </a:pPr>
            <a:r>
              <a:rPr sz="1300" b="0" i="0">
                <a:solidFill>
                  <a:srgbClr val="5A6472"/>
                </a:solidFill>
                <a:latin typeface="Calibri"/>
              </a:rPr>
              <a:t>Test skin is total skin, not only damage</a:t>
            </a:r>
          </a:p>
        </p:txBody>
      </p:sp>
      <p:pic>
        <p:nvPicPr>
          <p:cNvPr id="16" name="Picture 15" descr="s14_buildup.png"/>
          <p:cNvPicPr>
            <a:picLocks noChangeAspect="1"/>
          </p:cNvPicPr>
          <p:nvPr/>
        </p:nvPicPr>
        <p:blipFill>
          <a:blip r:embed="rId2"/>
          <a:stretch>
            <a:fillRect/>
          </a:stretch>
        </p:blipFill>
        <p:spPr>
          <a:xfrm>
            <a:off x="6446520" y="2011680"/>
            <a:ext cx="5212080" cy="3368967"/>
          </a:xfrm>
          <a:prstGeom prst="rect">
            <a:avLst/>
          </a:prstGeom>
        </p:spPr>
      </p:pic>
      <p:sp>
        <p:nvSpPr>
          <p:cNvPr id="17" name="TextBox 16"/>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Concept sketch by author. After Earlougher (1977).</a:t>
            </a:r>
          </a:p>
        </p:txBody>
      </p:sp>
      <p:sp>
        <p:nvSpPr>
          <p:cNvPr id="18" name="TextBox 17"/>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Hawkins' equation links the damaged zone to skin</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Rectangle 12"/>
          <p:cNvSpPr/>
          <p:nvPr/>
        </p:nvSpPr>
        <p:spPr>
          <a:xfrm>
            <a:off x="530352" y="1783080"/>
            <a:ext cx="11130991" cy="1051560"/>
          </a:xfrm>
          <a:prstGeom prst="rect">
            <a:avLst/>
          </a:prstGeom>
          <a:solidFill>
            <a:srgbClr val="EAF1F6"/>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30352" y="2084831"/>
            <a:ext cx="11130991" cy="548640"/>
          </a:xfrm>
          <a:prstGeom prst="rect">
            <a:avLst/>
          </a:prstGeom>
          <a:noFill/>
        </p:spPr>
        <p:txBody>
          <a:bodyPr wrap="square" lIns="0" rIns="0" tIns="0" bIns="0" anchor="t">
            <a:spAutoFit/>
          </a:bodyPr>
          <a:lstStyle/>
          <a:p>
            <a:pPr algn="ctr">
              <a:lnSpc>
                <a:spcPct val="120000"/>
              </a:lnSpc>
              <a:spcBef>
                <a:spcPts val="0"/>
              </a:spcBef>
              <a:spcAft>
                <a:spcPts val="0"/>
              </a:spcAft>
            </a:pPr>
            <a:r>
              <a:rPr sz="2700" b="1" i="0">
                <a:solidFill>
                  <a:srgbClr val="D1483B"/>
                </a:solidFill>
                <a:latin typeface="Calibri"/>
              </a:rPr>
              <a:t>S</a:t>
            </a:r>
            <a:r>
              <a:rPr sz="2700" b="0" i="0">
                <a:solidFill>
                  <a:srgbClr val="0B2A4A"/>
                </a:solidFill>
                <a:latin typeface="Calibri"/>
              </a:rPr>
              <a:t>  =  (k/k</a:t>
            </a:r>
            <a:r>
              <a:rPr sz="2700" b="0" i="0" baseline="-25000">
                <a:solidFill>
                  <a:srgbClr val="0B2A4A"/>
                </a:solidFill>
                <a:latin typeface="Calibri"/>
              </a:rPr>
              <a:t>s</a:t>
            </a:r>
            <a:r>
              <a:rPr sz="2700" b="0" i="0">
                <a:solidFill>
                  <a:srgbClr val="0B2A4A"/>
                </a:solidFill>
                <a:latin typeface="Calibri"/>
              </a:rPr>
              <a:t> − 1) ln(r</a:t>
            </a:r>
            <a:r>
              <a:rPr sz="2700" b="0" i="0" baseline="-25000">
                <a:solidFill>
                  <a:srgbClr val="0B2A4A"/>
                </a:solidFill>
                <a:latin typeface="Calibri"/>
              </a:rPr>
              <a:t>s</a:t>
            </a:r>
            <a:r>
              <a:rPr sz="2700" b="0" i="0">
                <a:solidFill>
                  <a:srgbClr val="0B2A4A"/>
                </a:solidFill>
                <a:latin typeface="Calibri"/>
              </a:rPr>
              <a:t>/r</a:t>
            </a:r>
            <a:r>
              <a:rPr sz="2700" b="0" i="0" baseline="-25000">
                <a:solidFill>
                  <a:srgbClr val="0B2A4A"/>
                </a:solidFill>
                <a:latin typeface="Calibri"/>
              </a:rPr>
              <a:t>w</a:t>
            </a:r>
            <a:r>
              <a:rPr sz="2700" b="0" i="0">
                <a:solidFill>
                  <a:srgbClr val="0B2A4A"/>
                </a:solidFill>
                <a:latin typeface="Calibri"/>
              </a:rPr>
              <a:t>)</a:t>
            </a:r>
          </a:p>
        </p:txBody>
      </p:sp>
      <p:pic>
        <p:nvPicPr>
          <p:cNvPr id="15" name="Picture 14" descr="s15_hawkins.png"/>
          <p:cNvPicPr>
            <a:picLocks noChangeAspect="1"/>
          </p:cNvPicPr>
          <p:nvPr/>
        </p:nvPicPr>
        <p:blipFill>
          <a:blip r:embed="rId2"/>
          <a:stretch>
            <a:fillRect/>
          </a:stretch>
        </p:blipFill>
        <p:spPr>
          <a:xfrm>
            <a:off x="576072" y="3154680"/>
            <a:ext cx="3520440" cy="3043371"/>
          </a:xfrm>
          <a:prstGeom prst="rect">
            <a:avLst/>
          </a:prstGeom>
        </p:spPr>
      </p:pic>
      <p:sp>
        <p:nvSpPr>
          <p:cNvPr id="16" name="TextBox 15"/>
          <p:cNvSpPr txBox="1"/>
          <p:nvPr/>
        </p:nvSpPr>
        <p:spPr>
          <a:xfrm>
            <a:off x="4206240" y="3154680"/>
            <a:ext cx="2834640" cy="2926080"/>
          </a:xfrm>
          <a:prstGeom prst="rect">
            <a:avLst/>
          </a:prstGeom>
          <a:noFill/>
        </p:spPr>
        <p:txBody>
          <a:bodyPr wrap="square" lIns="0" rIns="0" tIns="0" bIns="0" anchor="t">
            <a:spAutoFit/>
          </a:bodyPr>
          <a:lstStyle/>
          <a:p>
            <a:pPr algn="l">
              <a:lnSpc>
                <a:spcPct val="115000"/>
              </a:lnSpc>
              <a:spcBef>
                <a:spcPts val="0"/>
              </a:spcBef>
              <a:spcAft>
                <a:spcPts val="300"/>
              </a:spcAft>
            </a:pPr>
            <a:r>
              <a:rPr sz="1600" b="1" i="0">
                <a:solidFill>
                  <a:srgbClr val="0B2A4A"/>
                </a:solidFill>
                <a:latin typeface="Calibri"/>
              </a:rPr>
              <a:t>k</a:t>
            </a:r>
          </a:p>
          <a:p>
            <a:pPr algn="l">
              <a:lnSpc>
                <a:spcPct val="120000"/>
              </a:lnSpc>
              <a:spcBef>
                <a:spcPts val="0"/>
              </a:spcBef>
              <a:spcAft>
                <a:spcPts val="1100"/>
              </a:spcAft>
            </a:pPr>
            <a:r>
              <a:rPr sz="1250" b="0" i="0">
                <a:solidFill>
                  <a:srgbClr val="5A6472"/>
                </a:solidFill>
                <a:latin typeface="Calibri"/>
              </a:rPr>
              <a:t>undamaged permeability (md)</a:t>
            </a:r>
          </a:p>
          <a:p>
            <a:pPr algn="l">
              <a:lnSpc>
                <a:spcPct val="115000"/>
              </a:lnSpc>
              <a:spcBef>
                <a:spcPts val="0"/>
              </a:spcBef>
              <a:spcAft>
                <a:spcPts val="300"/>
              </a:spcAft>
            </a:pPr>
            <a:r>
              <a:rPr sz="1600" b="1" i="0">
                <a:solidFill>
                  <a:srgbClr val="0B2A4A"/>
                </a:solidFill>
                <a:latin typeface="Calibri"/>
              </a:rPr>
              <a:t>k</a:t>
            </a:r>
            <a:r>
              <a:rPr sz="1600" b="1" i="0" baseline="-25000">
                <a:solidFill>
                  <a:srgbClr val="0B2A4A"/>
                </a:solidFill>
                <a:latin typeface="Calibri"/>
              </a:rPr>
              <a:t>s</a:t>
            </a:r>
          </a:p>
          <a:p>
            <a:pPr algn="l">
              <a:lnSpc>
                <a:spcPct val="120000"/>
              </a:lnSpc>
              <a:spcBef>
                <a:spcPts val="0"/>
              </a:spcBef>
              <a:spcAft>
                <a:spcPts val="1100"/>
              </a:spcAft>
            </a:pPr>
            <a:r>
              <a:rPr sz="1250" b="0" i="0">
                <a:solidFill>
                  <a:srgbClr val="5A6472"/>
                </a:solidFill>
                <a:latin typeface="Calibri"/>
              </a:rPr>
              <a:t>damaged permeability (md)</a:t>
            </a:r>
          </a:p>
          <a:p>
            <a:pPr algn="l">
              <a:lnSpc>
                <a:spcPct val="115000"/>
              </a:lnSpc>
              <a:spcBef>
                <a:spcPts val="0"/>
              </a:spcBef>
              <a:spcAft>
                <a:spcPts val="300"/>
              </a:spcAft>
            </a:pPr>
            <a:r>
              <a:rPr sz="1600" b="1" i="0">
                <a:solidFill>
                  <a:srgbClr val="0B2A4A"/>
                </a:solidFill>
                <a:latin typeface="Calibri"/>
              </a:rPr>
              <a:t>r</a:t>
            </a:r>
            <a:r>
              <a:rPr sz="1600" b="1" i="0" baseline="-25000">
                <a:solidFill>
                  <a:srgbClr val="0B2A4A"/>
                </a:solidFill>
                <a:latin typeface="Calibri"/>
              </a:rPr>
              <a:t>s</a:t>
            </a:r>
          </a:p>
          <a:p>
            <a:pPr algn="l">
              <a:lnSpc>
                <a:spcPct val="120000"/>
              </a:lnSpc>
              <a:spcBef>
                <a:spcPts val="0"/>
              </a:spcBef>
              <a:spcAft>
                <a:spcPts val="1100"/>
              </a:spcAft>
            </a:pPr>
            <a:r>
              <a:rPr sz="1250" b="0" i="0">
                <a:solidFill>
                  <a:srgbClr val="5A6472"/>
                </a:solidFill>
                <a:latin typeface="Calibri"/>
              </a:rPr>
              <a:t>damage radius (ft)</a:t>
            </a:r>
          </a:p>
          <a:p>
            <a:pPr algn="l">
              <a:lnSpc>
                <a:spcPct val="115000"/>
              </a:lnSpc>
              <a:spcBef>
                <a:spcPts val="0"/>
              </a:spcBef>
              <a:spcAft>
                <a:spcPts val="300"/>
              </a:spcAft>
            </a:pPr>
            <a:r>
              <a:rPr sz="1600" b="1" i="0">
                <a:solidFill>
                  <a:srgbClr val="0B2A4A"/>
                </a:solidFill>
                <a:latin typeface="Calibri"/>
              </a:rPr>
              <a:t>r</a:t>
            </a:r>
            <a:r>
              <a:rPr sz="1600" b="1" i="0" baseline="-25000">
                <a:solidFill>
                  <a:srgbClr val="0B2A4A"/>
                </a:solidFill>
                <a:latin typeface="Calibri"/>
              </a:rPr>
              <a:t>w</a:t>
            </a:r>
          </a:p>
          <a:p>
            <a:pPr algn="l">
              <a:lnSpc>
                <a:spcPct val="120000"/>
              </a:lnSpc>
              <a:spcBef>
                <a:spcPts val="0"/>
              </a:spcBef>
              <a:spcAft>
                <a:spcPts val="1100"/>
              </a:spcAft>
            </a:pPr>
            <a:r>
              <a:rPr sz="1250" b="0" i="0">
                <a:solidFill>
                  <a:srgbClr val="5A6472"/>
                </a:solidFill>
                <a:latin typeface="Calibri"/>
              </a:rPr>
              <a:t>wellbore radius (ft)</a:t>
            </a:r>
          </a:p>
        </p:txBody>
      </p:sp>
      <p:sp>
        <p:nvSpPr>
          <p:cNvPr id="17" name="TextBox 16"/>
          <p:cNvSpPr txBox="1"/>
          <p:nvPr/>
        </p:nvSpPr>
        <p:spPr>
          <a:xfrm>
            <a:off x="7269480" y="3154680"/>
            <a:ext cx="4389120" cy="292608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Severity (k/k</a:t>
            </a:r>
            <a:r>
              <a:rPr sz="1600" b="0" i="0" baseline="-25000">
                <a:solidFill>
                  <a:srgbClr val="1F2A37"/>
                </a:solidFill>
                <a:latin typeface="Calibri"/>
              </a:rPr>
              <a:t>s</a:t>
            </a:r>
            <a:r>
              <a:rPr sz="1600" b="0" i="0">
                <a:solidFill>
                  <a:srgbClr val="1F2A37"/>
                </a:solidFill>
                <a:latin typeface="Calibri"/>
              </a:rPr>
              <a:t>) acts linearly</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Depth (r</a:t>
            </a:r>
            <a:r>
              <a:rPr sz="1600" b="0" i="0" baseline="-25000">
                <a:solidFill>
                  <a:srgbClr val="1F2A37"/>
                </a:solidFill>
                <a:latin typeface="Calibri"/>
              </a:rPr>
              <a:t>s</a:t>
            </a:r>
            <a:r>
              <a:rPr sz="1600" b="0" i="0">
                <a:solidFill>
                  <a:srgbClr val="1F2A37"/>
                </a:solidFill>
                <a:latin typeface="Calibri"/>
              </a:rPr>
              <a:t>) acts logarithmically</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Assumes a uniform, cylindrical damaged zone</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Well-test skin is total skin</a:t>
            </a:r>
          </a:p>
        </p:txBody>
      </p:sp>
      <p:sp>
        <p:nvSpPr>
          <p:cNvPr id="18" name="TextBox 17"/>
          <p:cNvSpPr txBox="1"/>
          <p:nvPr/>
        </p:nvSpPr>
        <p:spPr>
          <a:xfrm>
            <a:off x="530352" y="6355080"/>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Hawkins (1956), Trans. AIME 207.</a:t>
            </a:r>
          </a:p>
        </p:txBody>
      </p:sp>
      <p:sp>
        <p:nvSpPr>
          <p:cNvPr id="19" name="TextBox 18"/>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8549640"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0B2A4A"/>
                </a:solidFill>
                <a:latin typeface="Calibri"/>
              </a:rPr>
              <a:t>Worked example: a skin of 8.5 costs 55% of productivity</a:t>
            </a:r>
          </a:p>
        </p:txBody>
      </p:sp>
      <p:sp>
        <p:nvSpPr>
          <p:cNvPr id="3" name="Rectangle 2"/>
          <p:cNvSpPr/>
          <p:nvPr/>
        </p:nvSpPr>
        <p:spPr>
          <a:xfrm>
            <a:off x="9695383" y="365760"/>
            <a:ext cx="1965960" cy="329184"/>
          </a:xfrm>
          <a:prstGeom prst="rect">
            <a:avLst/>
          </a:prstGeom>
          <a:solidFill>
            <a:srgbClr val="FDF3E0"/>
          </a:solidFill>
          <a:ln w="1270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95383" y="406908"/>
            <a:ext cx="1965960" cy="256032"/>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8C6D10"/>
                </a:solidFill>
                <a:latin typeface="Calibri"/>
              </a:rPr>
              <a:t>ILLUSTRATIVE DATA</a:t>
            </a:r>
          </a:p>
        </p:txBody>
      </p:sp>
      <p:graphicFrame>
        <p:nvGraphicFramePr>
          <p:cNvPr id="5" name="Table 4"/>
          <p:cNvGraphicFramePr>
            <a:graphicFrameLocks noGrp="1"/>
          </p:cNvGraphicFramePr>
          <p:nvPr/>
        </p:nvGraphicFramePr>
        <p:xfrm>
          <a:off x="530352" y="1828800"/>
          <a:ext cx="5806440" cy="3858768"/>
        </p:xfrm>
        <a:graphic>
          <a:graphicData uri="http://schemas.openxmlformats.org/drawingml/2006/table">
            <a:tbl>
              <a:tblPr firstRow="1">
                <a:tableStyleId>{5C22544A-7EE6-4342-B048-85BDC9FD1C3A}</a:tableStyleId>
              </a:tblPr>
              <a:tblGrid>
                <a:gridCol w="3063240"/>
                <a:gridCol w="2743200"/>
              </a:tblGrid>
              <a:tr h="457200">
                <a:tc>
                  <a:txBody>
                    <a:bodyPr wrap="square"/>
                    <a:lstStyle/>
                    <a:p>
                      <a:pPr>
                        <a:lnSpc>
                          <a:spcPct val="105000"/>
                        </a:lnSpc>
                      </a:pPr>
                      <a:r>
                        <a:rPr sz="1350" b="1" i="0">
                          <a:solidFill>
                            <a:srgbClr val="FFFFFF"/>
                          </a:solidFill>
                          <a:latin typeface="Calibri"/>
                        </a:rPr>
                        <a:t>INPUT</a:t>
                      </a:r>
                    </a:p>
                  </a:txBody>
                  <a:tcPr marL="91440" marR="73152" marT="41148" marB="41148" anchor="ctr">
                    <a:solidFill>
                      <a:srgbClr val="0B2A4A"/>
                    </a:solidFill>
                  </a:tcPr>
                </a:tc>
                <a:tc>
                  <a:txBody>
                    <a:bodyPr wrap="square"/>
                    <a:lstStyle/>
                    <a:p>
                      <a:pPr>
                        <a:lnSpc>
                          <a:spcPct val="105000"/>
                        </a:lnSpc>
                      </a:pPr>
                      <a:r>
                        <a:rPr sz="1350" b="1" i="0">
                          <a:solidFill>
                            <a:srgbClr val="FFFFFF"/>
                          </a:solidFill>
                          <a:latin typeface="Calibri"/>
                        </a:rPr>
                        <a:t>OUTPUT</a:t>
                      </a:r>
                    </a:p>
                  </a:txBody>
                  <a:tcPr marL="91440" marR="73152" marT="41148" marB="41148" anchor="ctr">
                    <a:solidFill>
                      <a:srgbClr val="0B2A4A"/>
                    </a:solidFill>
                  </a:tcPr>
                </a:tc>
              </a:tr>
              <a:tr h="566928">
                <a:tc>
                  <a:txBody>
                    <a:bodyPr wrap="square"/>
                    <a:lstStyle/>
                    <a:p>
                      <a:pPr>
                        <a:lnSpc>
                          <a:spcPct val="105000"/>
                        </a:lnSpc>
                      </a:pPr>
                      <a:r>
                        <a:rPr sz="1350" b="1" i="0">
                          <a:solidFill>
                            <a:srgbClr val="0B2A4A"/>
                          </a:solidFill>
                          <a:latin typeface="Calibri"/>
                        </a:rPr>
                        <a:t>k, k</a:t>
                      </a:r>
                      <a:r>
                        <a:rPr sz="1350" b="1" i="0" baseline="-25000">
                          <a:solidFill>
                            <a:srgbClr val="0B2A4A"/>
                          </a:solidFill>
                          <a:latin typeface="Calibri"/>
                        </a:rPr>
                        <a:t>s</a:t>
                      </a:r>
                      <a:r>
                        <a:rPr sz="1350" b="1" i="0">
                          <a:solidFill>
                            <a:srgbClr val="0B2A4A"/>
                          </a:solidFill>
                          <a:latin typeface="Calibri"/>
                        </a:rPr>
                        <a:t>: 100, 20 md</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S = 8.55</a:t>
                      </a:r>
                    </a:p>
                  </a:txBody>
                  <a:tcPr marL="91440" marR="73152" marT="41148" marB="41148" anchor="ctr">
                    <a:solidFill>
                      <a:srgbClr val="FFFFFF"/>
                    </a:solidFill>
                  </a:tcPr>
                </a:tc>
              </a:tr>
              <a:tr h="566928">
                <a:tc>
                  <a:txBody>
                    <a:bodyPr wrap="square"/>
                    <a:lstStyle/>
                    <a:p>
                      <a:pPr>
                        <a:lnSpc>
                          <a:spcPct val="105000"/>
                        </a:lnSpc>
                      </a:pPr>
                      <a:r>
                        <a:rPr sz="1350" b="1" i="0">
                          <a:solidFill>
                            <a:srgbClr val="0B2A4A"/>
                          </a:solidFill>
                          <a:latin typeface="Calibri"/>
                        </a:rPr>
                        <a:t>h = 50 ft</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q (S = 0) = 4,270 STB/d</a:t>
                      </a:r>
                    </a:p>
                  </a:txBody>
                  <a:tcPr marL="91440" marR="73152" marT="41148" marB="41148" anchor="ctr">
                    <a:solidFill>
                      <a:srgbClr val="F2F5F9"/>
                    </a:solidFill>
                  </a:tcPr>
                </a:tc>
              </a:tr>
              <a:tr h="566928">
                <a:tc>
                  <a:txBody>
                    <a:bodyPr wrap="square"/>
                    <a:lstStyle/>
                    <a:p>
                      <a:pPr>
                        <a:lnSpc>
                          <a:spcPct val="105000"/>
                        </a:lnSpc>
                      </a:pPr>
                      <a:r>
                        <a:rPr sz="1350" b="1" i="0">
                          <a:solidFill>
                            <a:srgbClr val="0B2A4A"/>
                          </a:solidFill>
                          <a:latin typeface="Calibri"/>
                        </a:rPr>
                        <a:t>r</a:t>
                      </a:r>
                      <a:r>
                        <a:rPr sz="1350" b="1" i="0" baseline="-25000">
                          <a:solidFill>
                            <a:srgbClr val="0B2A4A"/>
                          </a:solidFill>
                          <a:latin typeface="Calibri"/>
                        </a:rPr>
                        <a:t>w</a:t>
                      </a:r>
                      <a:r>
                        <a:rPr sz="1350" b="1" i="0">
                          <a:solidFill>
                            <a:srgbClr val="0B2A4A"/>
                          </a:solidFill>
                          <a:latin typeface="Calibri"/>
                        </a:rPr>
                        <a:t>, r</a:t>
                      </a:r>
                      <a:r>
                        <a:rPr sz="1350" b="1" i="0" baseline="-25000">
                          <a:solidFill>
                            <a:srgbClr val="0B2A4A"/>
                          </a:solidFill>
                          <a:latin typeface="Calibri"/>
                        </a:rPr>
                        <a:t>e</a:t>
                      </a:r>
                      <a:r>
                        <a:rPr sz="1350" b="1" i="0">
                          <a:solidFill>
                            <a:srgbClr val="0B2A4A"/>
                          </a:solidFill>
                          <a:latin typeface="Calibri"/>
                        </a:rPr>
                        <a:t>: 0.354, 745 ft</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q (damaged) = 1,910 STB/d</a:t>
                      </a:r>
                    </a:p>
                  </a:txBody>
                  <a:tcPr marL="91440" marR="73152" marT="41148" marB="41148" anchor="ctr">
                    <a:solidFill>
                      <a:srgbClr val="FFFFFF"/>
                    </a:solidFill>
                  </a:tcPr>
                </a:tc>
              </a:tr>
              <a:tr h="566928">
                <a:tc>
                  <a:txBody>
                    <a:bodyPr wrap="square"/>
                    <a:lstStyle/>
                    <a:p>
                      <a:pPr>
                        <a:lnSpc>
                          <a:spcPct val="105000"/>
                        </a:lnSpc>
                      </a:pPr>
                      <a:r>
                        <a:rPr sz="1350" b="1" i="0">
                          <a:solidFill>
                            <a:srgbClr val="0B2A4A"/>
                          </a:solidFill>
                          <a:latin typeface="Calibri"/>
                        </a:rPr>
                        <a:t>r</a:t>
                      </a:r>
                      <a:r>
                        <a:rPr sz="1350" b="1" i="0" baseline="-25000">
                          <a:solidFill>
                            <a:srgbClr val="0B2A4A"/>
                          </a:solidFill>
                          <a:latin typeface="Calibri"/>
                        </a:rPr>
                        <a:t>s</a:t>
                      </a:r>
                      <a:r>
                        <a:rPr sz="1350" b="1" i="0">
                          <a:solidFill>
                            <a:srgbClr val="0B2A4A"/>
                          </a:solidFill>
                          <a:latin typeface="Calibri"/>
                        </a:rPr>
                        <a:t> = 3 ft</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FE = 0.447</a:t>
                      </a:r>
                    </a:p>
                  </a:txBody>
                  <a:tcPr marL="91440" marR="73152" marT="41148" marB="41148" anchor="ctr">
                    <a:solidFill>
                      <a:srgbClr val="F2F5F9"/>
                    </a:solidFill>
                  </a:tcPr>
                </a:tc>
              </a:tr>
              <a:tr h="566928">
                <a:tc>
                  <a:txBody>
                    <a:bodyPr wrap="square"/>
                    <a:lstStyle/>
                    <a:p>
                      <a:pPr>
                        <a:lnSpc>
                          <a:spcPct val="105000"/>
                        </a:lnSpc>
                      </a:pPr>
                      <a:r>
                        <a:rPr sz="1350" b="1" i="0">
                          <a:solidFill>
                            <a:srgbClr val="0B2A4A"/>
                          </a:solidFill>
                          <a:latin typeface="Calibri"/>
                        </a:rPr>
                        <a:t>p̄, p</a:t>
                      </a:r>
                      <a:r>
                        <a:rPr sz="1350" b="1" i="0" baseline="-25000">
                          <a:solidFill>
                            <a:srgbClr val="0B2A4A"/>
                          </a:solidFill>
                          <a:latin typeface="Calibri"/>
                        </a:rPr>
                        <a:t>wf</a:t>
                      </a:r>
                      <a:r>
                        <a:rPr sz="1350" b="1" i="0">
                          <a:solidFill>
                            <a:srgbClr val="0B2A4A"/>
                          </a:solidFill>
                          <a:latin typeface="Calibri"/>
                        </a:rPr>
                        <a:t>: 3,500, 2,500 psi</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Δp</a:t>
                      </a:r>
                      <a:r>
                        <a:rPr sz="1350" b="0" i="0" baseline="-25000">
                          <a:solidFill>
                            <a:srgbClr val="1F2A37"/>
                          </a:solidFill>
                          <a:latin typeface="Calibri"/>
                        </a:rPr>
                        <a:t>skin</a:t>
                      </a:r>
                      <a:r>
                        <a:rPr sz="1350" b="0" i="0">
                          <a:solidFill>
                            <a:srgbClr val="1F2A37"/>
                          </a:solidFill>
                          <a:latin typeface="Calibri"/>
                        </a:rPr>
                        <a:t> = 553 psi</a:t>
                      </a:r>
                    </a:p>
                  </a:txBody>
                  <a:tcPr marL="91440" marR="73152" marT="41148" marB="41148" anchor="ctr">
                    <a:solidFill>
                      <a:srgbClr val="FFFFFF"/>
                    </a:solidFill>
                  </a:tcPr>
                </a:tc>
              </a:tr>
              <a:tr h="566928">
                <a:tc>
                  <a:txBody>
                    <a:bodyPr wrap="square"/>
                    <a:lstStyle/>
                    <a:p>
                      <a:pPr>
                        <a:lnSpc>
                          <a:spcPct val="105000"/>
                        </a:lnSpc>
                      </a:pPr>
                      <a:r>
                        <a:rPr sz="1350" b="1" i="0">
                          <a:solidFill>
                            <a:srgbClr val="0B2A4A"/>
                          </a:solidFill>
                          <a:latin typeface="Calibri"/>
                        </a:rPr>
                        <a:t>μ = 1 cP, B = 1.2 rb/STB</a:t>
                      </a:r>
                    </a:p>
                  </a:txBody>
                  <a:tcPr marL="91440" marR="73152" marT="41148" marB="41148" anchor="ctr">
                    <a:solidFill>
                      <a:srgbClr val="F2F5F9"/>
                    </a:solidFill>
                  </a:tcPr>
                </a:tc>
                <a:tc>
                  <a:txBody>
                    <a:bodyPr wrap="square"/>
                    <a:lstStyle/>
                    <a:p>
                      <a:pPr>
                        <a:lnSpc>
                          <a:spcPct val="105000"/>
                        </a:lnSpc>
                      </a:pPr>
                    </a:p>
                  </a:txBody>
                  <a:tcPr marL="91440" marR="73152" marT="41148" marB="41148" anchor="ctr">
                    <a:solidFill>
                      <a:srgbClr val="F2F5F9"/>
                    </a:solidFill>
                  </a:tcPr>
                </a:tc>
              </a:tr>
            </a:tbl>
          </a:graphicData>
        </a:graphic>
      </p:graphicFrame>
      <p:pic>
        <p:nvPicPr>
          <p:cNvPr id="6" name="Picture 5" descr="s16_bars.png"/>
          <p:cNvPicPr>
            <a:picLocks noChangeAspect="1"/>
          </p:cNvPicPr>
          <p:nvPr/>
        </p:nvPicPr>
        <p:blipFill>
          <a:blip r:embed="rId2"/>
          <a:stretch>
            <a:fillRect/>
          </a:stretch>
        </p:blipFill>
        <p:spPr>
          <a:xfrm>
            <a:off x="6400800" y="2194560"/>
            <a:ext cx="5257800" cy="3148096"/>
          </a:xfrm>
          <a:prstGeom prst="rect">
            <a:avLst/>
          </a:prstGeom>
        </p:spPr>
      </p:pic>
      <p:sp>
        <p:nvSpPr>
          <p:cNvPr id="7" name="TextBox 6"/>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Author's calculation using Hawkins (1956) and radial Darcy flow.</a:t>
            </a:r>
          </a:p>
        </p:txBody>
      </p:sp>
      <p:sp>
        <p:nvSpPr>
          <p:cNvPr id="8" name="TextBox 7"/>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8549640"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0B2A4A"/>
                </a:solidFill>
                <a:latin typeface="Calibri"/>
              </a:rPr>
              <a:t>Severity of permeability reduction matters more than depth</a:t>
            </a:r>
          </a:p>
        </p:txBody>
      </p:sp>
      <p:sp>
        <p:nvSpPr>
          <p:cNvPr id="3" name="Rectangle 2"/>
          <p:cNvSpPr/>
          <p:nvPr/>
        </p:nvSpPr>
        <p:spPr>
          <a:xfrm>
            <a:off x="9695383" y="365760"/>
            <a:ext cx="1965960" cy="329184"/>
          </a:xfrm>
          <a:prstGeom prst="rect">
            <a:avLst/>
          </a:prstGeom>
          <a:solidFill>
            <a:srgbClr val="FDF3E0"/>
          </a:solidFill>
          <a:ln w="1270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95383" y="406908"/>
            <a:ext cx="1965960" cy="256032"/>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8C6D10"/>
                </a:solidFill>
                <a:latin typeface="Calibri"/>
              </a:rPr>
              <a:t>ILLUSTRATIVE DATA</a:t>
            </a:r>
          </a:p>
        </p:txBody>
      </p:sp>
      <p:graphicFrame>
        <p:nvGraphicFramePr>
          <p:cNvPr id="5" name="Table 4"/>
          <p:cNvGraphicFramePr>
            <a:graphicFrameLocks noGrp="1"/>
          </p:cNvGraphicFramePr>
          <p:nvPr/>
        </p:nvGraphicFramePr>
        <p:xfrm>
          <a:off x="530352" y="1828800"/>
          <a:ext cx="5897880" cy="2203704"/>
        </p:xfrm>
        <a:graphic>
          <a:graphicData uri="http://schemas.openxmlformats.org/drawingml/2006/table">
            <a:tbl>
              <a:tblPr firstRow="1">
                <a:tableStyleId>{5C22544A-7EE6-4342-B048-85BDC9FD1C3A}</a:tableStyleId>
              </a:tblPr>
              <a:tblGrid>
                <a:gridCol w="1508760"/>
                <a:gridCol w="1463040"/>
                <a:gridCol w="1463040"/>
                <a:gridCol w="1463040"/>
              </a:tblGrid>
              <a:tr h="502920">
                <a:tc>
                  <a:txBody>
                    <a:bodyPr wrap="square"/>
                    <a:lstStyle/>
                    <a:p>
                      <a:pPr>
                        <a:lnSpc>
                          <a:spcPct val="105000"/>
                        </a:lnSpc>
                      </a:pPr>
                      <a:r>
                        <a:rPr sz="1400" b="1" i="0">
                          <a:solidFill>
                            <a:srgbClr val="FFFFFF"/>
                          </a:solidFill>
                          <a:latin typeface="Calibri"/>
                        </a:rPr>
                        <a:t>k/k</a:t>
                      </a:r>
                      <a:r>
                        <a:rPr sz="1400" b="1" i="0" baseline="-25000">
                          <a:solidFill>
                            <a:srgbClr val="FFFFFF"/>
                          </a:solidFill>
                          <a:latin typeface="Calibri"/>
                        </a:rPr>
                        <a:t>s</a:t>
                      </a:r>
                    </a:p>
                  </a:txBody>
                  <a:tcPr marL="91440" marR="73152" marT="41148" marB="41148" anchor="ctr">
                    <a:solidFill>
                      <a:srgbClr val="0B2A4A"/>
                    </a:solidFill>
                  </a:tcPr>
                </a:tc>
                <a:tc>
                  <a:txBody>
                    <a:bodyPr wrap="square"/>
                    <a:lstStyle/>
                    <a:p>
                      <a:pPr>
                        <a:lnSpc>
                          <a:spcPct val="105000"/>
                        </a:lnSpc>
                      </a:pPr>
                      <a:r>
                        <a:rPr sz="1400" b="1" i="0">
                          <a:solidFill>
                            <a:srgbClr val="FFFFFF"/>
                          </a:solidFill>
                          <a:latin typeface="Calibri"/>
                        </a:rPr>
                        <a:t>r</a:t>
                      </a:r>
                      <a:r>
                        <a:rPr sz="1400" b="1" i="0" baseline="-25000">
                          <a:solidFill>
                            <a:srgbClr val="FFFFFF"/>
                          </a:solidFill>
                          <a:latin typeface="Calibri"/>
                        </a:rPr>
                        <a:t>s</a:t>
                      </a:r>
                      <a:r>
                        <a:rPr sz="1400" b="1" i="0">
                          <a:solidFill>
                            <a:srgbClr val="FFFFFF"/>
                          </a:solidFill>
                          <a:latin typeface="Calibri"/>
                        </a:rPr>
                        <a:t> = 1 ft</a:t>
                      </a:r>
                    </a:p>
                  </a:txBody>
                  <a:tcPr marL="91440" marR="73152" marT="41148" marB="41148" anchor="ctr">
                    <a:solidFill>
                      <a:srgbClr val="0B2A4A"/>
                    </a:solidFill>
                  </a:tcPr>
                </a:tc>
                <a:tc>
                  <a:txBody>
                    <a:bodyPr wrap="square"/>
                    <a:lstStyle/>
                    <a:p>
                      <a:pPr>
                        <a:lnSpc>
                          <a:spcPct val="105000"/>
                        </a:lnSpc>
                      </a:pPr>
                      <a:r>
                        <a:rPr sz="1400" b="1" i="0">
                          <a:solidFill>
                            <a:srgbClr val="FFFFFF"/>
                          </a:solidFill>
                          <a:latin typeface="Calibri"/>
                        </a:rPr>
                        <a:t>r</a:t>
                      </a:r>
                      <a:r>
                        <a:rPr sz="1400" b="1" i="0" baseline="-25000">
                          <a:solidFill>
                            <a:srgbClr val="FFFFFF"/>
                          </a:solidFill>
                          <a:latin typeface="Calibri"/>
                        </a:rPr>
                        <a:t>s</a:t>
                      </a:r>
                      <a:r>
                        <a:rPr sz="1400" b="1" i="0">
                          <a:solidFill>
                            <a:srgbClr val="FFFFFF"/>
                          </a:solidFill>
                          <a:latin typeface="Calibri"/>
                        </a:rPr>
                        <a:t> = 3 ft</a:t>
                      </a:r>
                    </a:p>
                  </a:txBody>
                  <a:tcPr marL="91440" marR="73152" marT="41148" marB="41148" anchor="ctr">
                    <a:solidFill>
                      <a:srgbClr val="0B2A4A"/>
                    </a:solidFill>
                  </a:tcPr>
                </a:tc>
                <a:tc>
                  <a:txBody>
                    <a:bodyPr wrap="square"/>
                    <a:lstStyle/>
                    <a:p>
                      <a:pPr>
                        <a:lnSpc>
                          <a:spcPct val="105000"/>
                        </a:lnSpc>
                      </a:pPr>
                      <a:r>
                        <a:rPr sz="1400" b="1" i="0">
                          <a:solidFill>
                            <a:srgbClr val="FFFFFF"/>
                          </a:solidFill>
                          <a:latin typeface="Calibri"/>
                        </a:rPr>
                        <a:t>r</a:t>
                      </a:r>
                      <a:r>
                        <a:rPr sz="1400" b="1" i="0" baseline="-25000">
                          <a:solidFill>
                            <a:srgbClr val="FFFFFF"/>
                          </a:solidFill>
                          <a:latin typeface="Calibri"/>
                        </a:rPr>
                        <a:t>s</a:t>
                      </a:r>
                      <a:r>
                        <a:rPr sz="1400" b="1" i="0">
                          <a:solidFill>
                            <a:srgbClr val="FFFFFF"/>
                          </a:solidFill>
                          <a:latin typeface="Calibri"/>
                        </a:rPr>
                        <a:t> = 5 ft</a:t>
                      </a:r>
                    </a:p>
                  </a:txBody>
                  <a:tcPr marL="91440" marR="73152" marT="41148" marB="41148" anchor="ctr">
                    <a:solidFill>
                      <a:srgbClr val="0B2A4A"/>
                    </a:solidFill>
                  </a:tcPr>
                </a:tc>
              </a:tr>
              <a:tr h="566928">
                <a:tc>
                  <a:txBody>
                    <a:bodyPr wrap="square"/>
                    <a:lstStyle/>
                    <a:p>
                      <a:pPr>
                        <a:lnSpc>
                          <a:spcPct val="105000"/>
                        </a:lnSpc>
                      </a:pPr>
                      <a:r>
                        <a:rPr sz="1400" b="1" i="0">
                          <a:solidFill>
                            <a:srgbClr val="0B2A4A"/>
                          </a:solidFill>
                          <a:latin typeface="Calibri"/>
                        </a:rPr>
                        <a:t>2</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1.0 / 0.87</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2.1 / 0.76</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2.6 / 0.72</a:t>
                      </a:r>
                    </a:p>
                  </a:txBody>
                  <a:tcPr marL="91440" marR="73152" marT="41148" marB="41148" anchor="ctr">
                    <a:solidFill>
                      <a:srgbClr val="FFFFFF"/>
                    </a:solidFill>
                  </a:tcPr>
                </a:tc>
              </a:tr>
              <a:tr h="566928">
                <a:tc>
                  <a:txBody>
                    <a:bodyPr wrap="square"/>
                    <a:lstStyle/>
                    <a:p>
                      <a:pPr>
                        <a:lnSpc>
                          <a:spcPct val="105000"/>
                        </a:lnSpc>
                      </a:pPr>
                      <a:r>
                        <a:rPr sz="1400" b="1" i="0">
                          <a:solidFill>
                            <a:srgbClr val="0B2A4A"/>
                          </a:solidFill>
                          <a:latin typeface="Calibri"/>
                        </a:rPr>
                        <a:t>5</a:t>
                      </a:r>
                    </a:p>
                  </a:txBody>
                  <a:tcPr marL="91440" marR="73152" marT="41148" marB="41148" anchor="ctr">
                    <a:solidFill>
                      <a:srgbClr val="F2F5F9"/>
                    </a:solidFill>
                  </a:tcPr>
                </a:tc>
                <a:tc>
                  <a:txBody>
                    <a:bodyPr wrap="square"/>
                    <a:lstStyle/>
                    <a:p>
                      <a:pPr algn="ctr">
                        <a:lnSpc>
                          <a:spcPct val="105000"/>
                        </a:lnSpc>
                      </a:pPr>
                      <a:r>
                        <a:rPr sz="1400" b="0" i="0">
                          <a:solidFill>
                            <a:srgbClr val="1F2A37"/>
                          </a:solidFill>
                          <a:latin typeface="Calibri"/>
                        </a:rPr>
                        <a:t>4.2 / 0.62</a:t>
                      </a:r>
                    </a:p>
                  </a:txBody>
                  <a:tcPr marL="91440" marR="73152" marT="41148" marB="41148" anchor="ctr">
                    <a:solidFill>
                      <a:srgbClr val="F2F5F9"/>
                    </a:solidFill>
                  </a:tcPr>
                </a:tc>
                <a:tc>
                  <a:txBody>
                    <a:bodyPr wrap="square"/>
                    <a:lstStyle/>
                    <a:p>
                      <a:pPr algn="ctr">
                        <a:lnSpc>
                          <a:spcPct val="105000"/>
                        </a:lnSpc>
                      </a:pPr>
                      <a:r>
                        <a:rPr sz="1400" b="0" i="0">
                          <a:solidFill>
                            <a:srgbClr val="1F2A37"/>
                          </a:solidFill>
                          <a:latin typeface="Calibri"/>
                        </a:rPr>
                        <a:t>8.5 / 0.45</a:t>
                      </a:r>
                    </a:p>
                  </a:txBody>
                  <a:tcPr marL="91440" marR="73152" marT="41148" marB="41148" anchor="ctr">
                    <a:solidFill>
                      <a:srgbClr val="F2F5F9"/>
                    </a:solidFill>
                  </a:tcPr>
                </a:tc>
                <a:tc>
                  <a:txBody>
                    <a:bodyPr wrap="square"/>
                    <a:lstStyle/>
                    <a:p>
                      <a:pPr algn="ctr">
                        <a:lnSpc>
                          <a:spcPct val="105000"/>
                        </a:lnSpc>
                      </a:pPr>
                      <a:r>
                        <a:rPr sz="1400" b="0" i="0">
                          <a:solidFill>
                            <a:srgbClr val="1F2A37"/>
                          </a:solidFill>
                          <a:latin typeface="Calibri"/>
                        </a:rPr>
                        <a:t>10.6 / 0.39</a:t>
                      </a:r>
                    </a:p>
                  </a:txBody>
                  <a:tcPr marL="91440" marR="73152" marT="41148" marB="41148" anchor="ctr">
                    <a:solidFill>
                      <a:srgbClr val="F2F5F9"/>
                    </a:solidFill>
                  </a:tcPr>
                </a:tc>
              </a:tr>
              <a:tr h="566928">
                <a:tc>
                  <a:txBody>
                    <a:bodyPr wrap="square"/>
                    <a:lstStyle/>
                    <a:p>
                      <a:pPr>
                        <a:lnSpc>
                          <a:spcPct val="105000"/>
                        </a:lnSpc>
                      </a:pPr>
                      <a:r>
                        <a:rPr sz="1400" b="1" i="0">
                          <a:solidFill>
                            <a:srgbClr val="0B2A4A"/>
                          </a:solidFill>
                          <a:latin typeface="Calibri"/>
                        </a:rPr>
                        <a:t>10</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9.3 / 0.42</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19.2 / 0.26</a:t>
                      </a:r>
                    </a:p>
                  </a:txBody>
                  <a:tcPr marL="91440" marR="73152" marT="41148" marB="41148" anchor="ctr">
                    <a:solidFill>
                      <a:srgbClr val="FFFFFF"/>
                    </a:solidFill>
                  </a:tcPr>
                </a:tc>
                <a:tc>
                  <a:txBody>
                    <a:bodyPr wrap="square"/>
                    <a:lstStyle/>
                    <a:p>
                      <a:pPr algn="ctr">
                        <a:lnSpc>
                          <a:spcPct val="105000"/>
                        </a:lnSpc>
                      </a:pPr>
                      <a:r>
                        <a:rPr sz="1400" b="0" i="0">
                          <a:solidFill>
                            <a:srgbClr val="1F2A37"/>
                          </a:solidFill>
                          <a:latin typeface="Calibri"/>
                        </a:rPr>
                        <a:t>23.8 / 0.22</a:t>
                      </a:r>
                    </a:p>
                  </a:txBody>
                  <a:tcPr marL="91440" marR="73152" marT="41148" marB="41148" anchor="ctr">
                    <a:solidFill>
                      <a:srgbClr val="FFFFFF"/>
                    </a:solidFill>
                  </a:tcPr>
                </a:tc>
              </a:tr>
            </a:tbl>
          </a:graphicData>
        </a:graphic>
      </p:graphicFrame>
      <p:sp>
        <p:nvSpPr>
          <p:cNvPr id="6" name="Rectangle 5"/>
          <p:cNvSpPr/>
          <p:nvPr/>
        </p:nvSpPr>
        <p:spPr>
          <a:xfrm>
            <a:off x="530352" y="4114800"/>
            <a:ext cx="5897880" cy="1645920"/>
          </a:xfrm>
          <a:prstGeom prst="rect">
            <a:avLst/>
          </a:prstGeom>
          <a:solidFill>
            <a:srgbClr val="FDF3E0"/>
          </a:solidFill>
          <a:ln w="1905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58952" y="4270248"/>
            <a:ext cx="5440680" cy="1325880"/>
          </a:xfrm>
          <a:prstGeom prst="rect">
            <a:avLst/>
          </a:prstGeom>
          <a:noFill/>
        </p:spPr>
        <p:txBody>
          <a:bodyPr wrap="square" lIns="0" rIns="0" tIns="0" bIns="0" anchor="t">
            <a:spAutoFit/>
          </a:bodyPr>
          <a:lstStyle/>
          <a:p>
            <a:pPr algn="l">
              <a:lnSpc>
                <a:spcPct val="125000"/>
              </a:lnSpc>
              <a:spcBef>
                <a:spcPts val="0"/>
              </a:spcBef>
              <a:spcAft>
                <a:spcPts val="700"/>
              </a:spcAft>
            </a:pPr>
            <a:r>
              <a:rPr sz="1450" b="1" i="0">
                <a:solidFill>
                  <a:srgbClr val="0B2A4A"/>
                </a:solidFill>
                <a:latin typeface="Calibri"/>
              </a:rPr>
              <a:t>Depth 3 → 5 ft:   FE 0.45 → 0.39</a:t>
            </a:r>
          </a:p>
          <a:p>
            <a:pPr algn="l">
              <a:lnSpc>
                <a:spcPct val="125000"/>
              </a:lnSpc>
              <a:spcBef>
                <a:spcPts val="0"/>
              </a:spcBef>
              <a:spcAft>
                <a:spcPts val="0"/>
              </a:spcAft>
            </a:pPr>
            <a:r>
              <a:rPr sz="1450" b="1" i="0">
                <a:solidFill>
                  <a:srgbClr val="0B2A4A"/>
                </a:solidFill>
                <a:latin typeface="Calibri"/>
              </a:rPr>
              <a:t>Severity 2 → 10:   FE 0.76 → 0.26</a:t>
            </a:r>
          </a:p>
        </p:txBody>
      </p:sp>
      <p:sp>
        <p:nvSpPr>
          <p:cNvPr id="8" name="TextBox 7"/>
          <p:cNvSpPr txBox="1"/>
          <p:nvPr/>
        </p:nvSpPr>
        <p:spPr>
          <a:xfrm>
            <a:off x="758952" y="5230368"/>
            <a:ext cx="5440680" cy="365760"/>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5A6472"/>
                </a:solidFill>
                <a:latin typeface="Calibri"/>
              </a:rPr>
              <a:t>S = skin  ·  FE = flow efficiency</a:t>
            </a:r>
          </a:p>
        </p:txBody>
      </p:sp>
      <p:pic>
        <p:nvPicPr>
          <p:cNvPr id="9" name="Picture 8" descr="s17_fe.png"/>
          <p:cNvPicPr>
            <a:picLocks noChangeAspect="1"/>
          </p:cNvPicPr>
          <p:nvPr/>
        </p:nvPicPr>
        <p:blipFill>
          <a:blip r:embed="rId2"/>
          <a:stretch>
            <a:fillRect/>
          </a:stretch>
        </p:blipFill>
        <p:spPr>
          <a:xfrm>
            <a:off x="6355080" y="1965960"/>
            <a:ext cx="5303520" cy="3577897"/>
          </a:xfrm>
          <a:prstGeom prst="rect">
            <a:avLst/>
          </a:prstGeom>
        </p:spPr>
      </p:pic>
      <p:sp>
        <p:nvSpPr>
          <p:cNvPr id="10" name="TextBox 9"/>
          <p:cNvSpPr txBox="1"/>
          <p:nvPr/>
        </p:nvSpPr>
        <p:spPr>
          <a:xfrm>
            <a:off x="530352" y="5989320"/>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Author's calculation. Same reservoir as slide 16.</a:t>
            </a:r>
          </a:p>
        </p:txBody>
      </p:sp>
      <p:sp>
        <p:nvSpPr>
          <p:cNvPr id="11" name="TextBox 10"/>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Prevention starts with fluid design</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sp>
        <p:nvSpPr>
          <p:cNvPr id="13" name="TextBox 12"/>
          <p:cNvSpPr txBox="1"/>
          <p:nvPr/>
        </p:nvSpPr>
        <p:spPr>
          <a:xfrm>
            <a:off x="530352" y="1828800"/>
            <a:ext cx="4434840" cy="402336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Size bridging agents ≈ ⅓ of pore throats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Use acid-soluble CaCO</a:t>
            </a:r>
            <a:r>
              <a:rPr sz="1700" b="0" i="0" baseline="-25000">
                <a:solidFill>
                  <a:srgbClr val="1F2A37"/>
                </a:solidFill>
                <a:latin typeface="Calibri"/>
              </a:rPr>
              <a:t>3</a:t>
            </a:r>
            <a:r>
              <a:rPr sz="1700" b="0" i="0">
                <a:solidFill>
                  <a:srgbClr val="1F2A37"/>
                </a:solidFill>
                <a:latin typeface="Calibri"/>
              </a:rPr>
              <a:t> bridging particles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Low filtrate loss: thin, tough filter cake</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Inhibitive brines (KCl) protect clays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Minimize overbalance and exposure time</a:t>
            </a:r>
          </a:p>
        </p:txBody>
      </p:sp>
      <p:pic>
        <p:nvPicPr>
          <p:cNvPr id="14" name="Picture 13" descr="s18_fluids.png"/>
          <p:cNvPicPr>
            <a:picLocks noChangeAspect="1"/>
          </p:cNvPicPr>
          <p:nvPr/>
        </p:nvPicPr>
        <p:blipFill>
          <a:blip r:embed="rId2"/>
          <a:stretch>
            <a:fillRect/>
          </a:stretch>
        </p:blipFill>
        <p:spPr>
          <a:xfrm>
            <a:off x="5120640" y="1874519"/>
            <a:ext cx="6355080" cy="3732736"/>
          </a:xfrm>
          <a:prstGeom prst="rect">
            <a:avLst/>
          </a:prstGeom>
        </p:spPr>
      </p:pic>
      <p:sp>
        <p:nvSpPr>
          <p:cNvPr id="15" name="TextBox 14"/>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Schematic by author. Bridging rule after Abrams (1977).</a:t>
            </a:r>
          </a:p>
        </p:txBody>
      </p:sp>
      <p:sp>
        <p:nvSpPr>
          <p:cNvPr id="16" name="TextBox 15"/>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Remediation must match the damage type</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Solutions</a:t>
            </a:r>
          </a:p>
        </p:txBody>
      </p:sp>
      <p:sp>
        <p:nvSpPr>
          <p:cNvPr id="11" name="Rectangle 10"/>
          <p:cNvSpPr/>
          <p:nvPr/>
        </p:nvSpPr>
        <p:spPr>
          <a:xfrm>
            <a:off x="9639970"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Next steps</a:t>
            </a:r>
          </a:p>
        </p:txBody>
      </p:sp>
      <p:graphicFrame>
        <p:nvGraphicFramePr>
          <p:cNvPr id="13" name="Table 12"/>
          <p:cNvGraphicFramePr>
            <a:graphicFrameLocks noGrp="1"/>
          </p:cNvGraphicFramePr>
          <p:nvPr/>
        </p:nvGraphicFramePr>
        <p:xfrm>
          <a:off x="530352" y="1828800"/>
          <a:ext cx="5669280" cy="3017520"/>
        </p:xfrm>
        <a:graphic>
          <a:graphicData uri="http://schemas.openxmlformats.org/drawingml/2006/table">
            <a:tbl>
              <a:tblPr firstRow="1">
                <a:tableStyleId>{5C22544A-7EE6-4342-B048-85BDC9FD1C3A}</a:tableStyleId>
              </a:tblPr>
              <a:tblGrid>
                <a:gridCol w="2788920"/>
                <a:gridCol w="2880360"/>
              </a:tblGrid>
              <a:tr h="457200">
                <a:tc>
                  <a:txBody>
                    <a:bodyPr wrap="square"/>
                    <a:lstStyle/>
                    <a:p>
                      <a:pPr>
                        <a:lnSpc>
                          <a:spcPct val="105000"/>
                        </a:lnSpc>
                      </a:pPr>
                      <a:r>
                        <a:rPr sz="1350" b="1" i="0">
                          <a:solidFill>
                            <a:srgbClr val="FFFFFF"/>
                          </a:solidFill>
                          <a:latin typeface="Calibri"/>
                        </a:rPr>
                        <a:t>Damage</a:t>
                      </a:r>
                    </a:p>
                  </a:txBody>
                  <a:tcPr marL="91440" marR="73152" marT="41148" marB="41148" anchor="ctr">
                    <a:solidFill>
                      <a:srgbClr val="0B2A4A"/>
                    </a:solidFill>
                  </a:tcPr>
                </a:tc>
                <a:tc>
                  <a:txBody>
                    <a:bodyPr wrap="square"/>
                    <a:lstStyle/>
                    <a:p>
                      <a:pPr>
                        <a:lnSpc>
                          <a:spcPct val="105000"/>
                        </a:lnSpc>
                      </a:pPr>
                      <a:r>
                        <a:rPr sz="1350" b="1" i="0">
                          <a:solidFill>
                            <a:srgbClr val="FFFFFF"/>
                          </a:solidFill>
                          <a:latin typeface="Calibri"/>
                        </a:rPr>
                        <a:t>Typical treatment</a:t>
                      </a:r>
                    </a:p>
                  </a:txBody>
                  <a:tcPr marL="91440" marR="73152" marT="41148" marB="41148" anchor="ctr">
                    <a:solidFill>
                      <a:srgbClr val="0B2A4A"/>
                    </a:solidFill>
                  </a:tcPr>
                </a:tc>
              </a:tr>
              <a:tr h="640080">
                <a:tc>
                  <a:txBody>
                    <a:bodyPr wrap="square"/>
                    <a:lstStyle/>
                    <a:p>
                      <a:pPr>
                        <a:lnSpc>
                          <a:spcPct val="105000"/>
                        </a:lnSpc>
                      </a:pPr>
                      <a:r>
                        <a:rPr sz="1350" b="1" i="0">
                          <a:solidFill>
                            <a:srgbClr val="0B2A4A"/>
                          </a:solidFill>
                          <a:latin typeface="Calibri"/>
                        </a:rPr>
                        <a:t>Carbonate solids, scale</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HCl</a:t>
                      </a:r>
                    </a:p>
                  </a:txBody>
                  <a:tcPr marL="91440" marR="73152" marT="41148" marB="41148" anchor="ctr">
                    <a:solidFill>
                      <a:srgbClr val="FFFFFF"/>
                    </a:solidFill>
                  </a:tcPr>
                </a:tc>
              </a:tr>
              <a:tr h="640080">
                <a:tc>
                  <a:txBody>
                    <a:bodyPr wrap="square"/>
                    <a:lstStyle/>
                    <a:p>
                      <a:pPr>
                        <a:lnSpc>
                          <a:spcPct val="105000"/>
                        </a:lnSpc>
                      </a:pPr>
                      <a:r>
                        <a:rPr sz="1350" b="1" i="0">
                          <a:solidFill>
                            <a:srgbClr val="0B2A4A"/>
                          </a:solidFill>
                          <a:latin typeface="Calibri"/>
                        </a:rPr>
                        <a:t>Clay and silicate fines</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Mud acid (HF/HCl)</a:t>
                      </a:r>
                    </a:p>
                  </a:txBody>
                  <a:tcPr marL="91440" marR="73152" marT="41148" marB="41148" anchor="ctr">
                    <a:solidFill>
                      <a:srgbClr val="F2F5F9"/>
                    </a:solidFill>
                  </a:tcPr>
                </a:tc>
              </a:tr>
              <a:tr h="640080">
                <a:tc>
                  <a:txBody>
                    <a:bodyPr wrap="square"/>
                    <a:lstStyle/>
                    <a:p>
                      <a:pPr>
                        <a:lnSpc>
                          <a:spcPct val="105000"/>
                        </a:lnSpc>
                      </a:pPr>
                      <a:r>
                        <a:rPr sz="1350" b="1" i="0">
                          <a:solidFill>
                            <a:srgbClr val="0B2A4A"/>
                          </a:solidFill>
                          <a:latin typeface="Calibri"/>
                        </a:rPr>
                        <a:t>Emulsion, organics, paraffin</a:t>
                      </a:r>
                    </a:p>
                  </a:txBody>
                  <a:tcPr marL="91440" marR="73152" marT="41148" marB="41148" anchor="ctr">
                    <a:solidFill>
                      <a:srgbClr val="FFFFFF"/>
                    </a:solidFill>
                  </a:tcPr>
                </a:tc>
                <a:tc>
                  <a:txBody>
                    <a:bodyPr wrap="square"/>
                    <a:lstStyle/>
                    <a:p>
                      <a:pPr>
                        <a:lnSpc>
                          <a:spcPct val="105000"/>
                        </a:lnSpc>
                      </a:pPr>
                      <a:r>
                        <a:rPr sz="1350" b="0" i="0">
                          <a:solidFill>
                            <a:srgbClr val="1F2A37"/>
                          </a:solidFill>
                          <a:latin typeface="Calibri"/>
                        </a:rPr>
                        <a:t>Solvents, surfactants</a:t>
                      </a:r>
                    </a:p>
                  </a:txBody>
                  <a:tcPr marL="91440" marR="73152" marT="41148" marB="41148" anchor="ctr">
                    <a:solidFill>
                      <a:srgbClr val="FFFFFF"/>
                    </a:solidFill>
                  </a:tcPr>
                </a:tc>
              </a:tr>
              <a:tr h="640080">
                <a:tc>
                  <a:txBody>
                    <a:bodyPr wrap="square"/>
                    <a:lstStyle/>
                    <a:p>
                      <a:pPr>
                        <a:lnSpc>
                          <a:spcPct val="105000"/>
                        </a:lnSpc>
                      </a:pPr>
                      <a:r>
                        <a:rPr sz="1350" b="1" i="0">
                          <a:solidFill>
                            <a:srgbClr val="0B2A4A"/>
                          </a:solidFill>
                          <a:latin typeface="Calibri"/>
                        </a:rPr>
                        <a:t>Deep or severe damage</a:t>
                      </a:r>
                    </a:p>
                  </a:txBody>
                  <a:tcPr marL="91440" marR="73152" marT="41148" marB="41148" anchor="ctr">
                    <a:solidFill>
                      <a:srgbClr val="F2F5F9"/>
                    </a:solidFill>
                  </a:tcPr>
                </a:tc>
                <a:tc>
                  <a:txBody>
                    <a:bodyPr wrap="square"/>
                    <a:lstStyle/>
                    <a:p>
                      <a:pPr>
                        <a:lnSpc>
                          <a:spcPct val="105000"/>
                        </a:lnSpc>
                      </a:pPr>
                      <a:r>
                        <a:rPr sz="1350" b="0" i="0">
                          <a:solidFill>
                            <a:srgbClr val="1F2A37"/>
                          </a:solidFill>
                          <a:latin typeface="Calibri"/>
                        </a:rPr>
                        <a:t>Hydraulic fracturing</a:t>
                      </a:r>
                    </a:p>
                  </a:txBody>
                  <a:tcPr marL="91440" marR="73152" marT="41148" marB="41148" anchor="ctr">
                    <a:solidFill>
                      <a:srgbClr val="F2F5F9"/>
                    </a:solidFill>
                  </a:tcPr>
                </a:tc>
              </a:tr>
            </a:tbl>
          </a:graphicData>
        </a:graphic>
      </p:graphicFrame>
      <p:sp>
        <p:nvSpPr>
          <p:cNvPr id="14" name="Rectangle 13"/>
          <p:cNvSpPr/>
          <p:nvPr/>
        </p:nvSpPr>
        <p:spPr>
          <a:xfrm>
            <a:off x="530352" y="4983480"/>
            <a:ext cx="5669280" cy="777240"/>
          </a:xfrm>
          <a:prstGeom prst="rect">
            <a:avLst/>
          </a:prstGeom>
          <a:solidFill>
            <a:srgbClr val="FDF3E0"/>
          </a:solidFill>
          <a:ln w="1905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13232" y="5184648"/>
            <a:ext cx="5349240" cy="411480"/>
          </a:xfrm>
          <a:prstGeom prst="rect">
            <a:avLst/>
          </a:prstGeom>
          <a:noFill/>
        </p:spPr>
        <p:txBody>
          <a:bodyPr wrap="square" lIns="0" rIns="0" tIns="0" bIns="0" anchor="t">
            <a:spAutoFit/>
          </a:bodyPr>
          <a:lstStyle/>
          <a:p>
            <a:pPr algn="ctr">
              <a:lnSpc>
                <a:spcPct val="120000"/>
              </a:lnSpc>
              <a:spcBef>
                <a:spcPts val="0"/>
              </a:spcBef>
              <a:spcAft>
                <a:spcPts val="0"/>
              </a:spcAft>
            </a:pPr>
            <a:r>
              <a:rPr sz="1450" b="1" i="0">
                <a:solidFill>
                  <a:srgbClr val="8C6D10"/>
                </a:solidFill>
                <a:latin typeface="Calibri"/>
              </a:rPr>
              <a:t>Diagnose first. Wrong treatment creates new damage.</a:t>
            </a:r>
          </a:p>
        </p:txBody>
      </p:sp>
      <p:pic>
        <p:nvPicPr>
          <p:cNvPr id="16" name="Picture 15" descr="s19_tree.png"/>
          <p:cNvPicPr>
            <a:picLocks noChangeAspect="1"/>
          </p:cNvPicPr>
          <p:nvPr/>
        </p:nvPicPr>
        <p:blipFill>
          <a:blip r:embed="rId2"/>
          <a:stretch>
            <a:fillRect/>
          </a:stretch>
        </p:blipFill>
        <p:spPr>
          <a:xfrm>
            <a:off x="6355080" y="1965960"/>
            <a:ext cx="5303520" cy="3373916"/>
          </a:xfrm>
          <a:prstGeom prst="rect">
            <a:avLst/>
          </a:prstGeom>
        </p:spPr>
      </p:pic>
      <p:sp>
        <p:nvSpPr>
          <p:cNvPr id="17" name="TextBox 16"/>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Simplified from Economides et al. Always verify with lab tests.</a:t>
            </a:r>
          </a:p>
        </p:txBody>
      </p:sp>
      <p:sp>
        <p:nvSpPr>
          <p:cNvPr id="18" name="TextBox 17"/>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8549640"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0B2A4A"/>
                </a:solidFill>
                <a:latin typeface="Calibri"/>
              </a:rPr>
              <a:t>Remediation can pay back fast, but prevention avoids cost and risk</a:t>
            </a:r>
          </a:p>
        </p:txBody>
      </p:sp>
      <p:sp>
        <p:nvSpPr>
          <p:cNvPr id="3" name="Rectangle 2"/>
          <p:cNvSpPr/>
          <p:nvPr/>
        </p:nvSpPr>
        <p:spPr>
          <a:xfrm>
            <a:off x="9695383" y="365760"/>
            <a:ext cx="1965960" cy="329184"/>
          </a:xfrm>
          <a:prstGeom prst="rect">
            <a:avLst/>
          </a:prstGeom>
          <a:solidFill>
            <a:srgbClr val="FDF3E0"/>
          </a:solidFill>
          <a:ln w="1270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695383" y="406908"/>
            <a:ext cx="1965960" cy="256032"/>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8C6D10"/>
                </a:solidFill>
                <a:latin typeface="Calibri"/>
              </a:rPr>
              <a:t>ILLUSTRATIVE DATA</a:t>
            </a:r>
          </a:p>
        </p:txBody>
      </p:sp>
      <p:sp>
        <p:nvSpPr>
          <p:cNvPr id="5" name="TextBox 4"/>
          <p:cNvSpPr txBox="1"/>
          <p:nvPr/>
        </p:nvSpPr>
        <p:spPr>
          <a:xfrm>
            <a:off x="530352" y="1828800"/>
            <a:ext cx="5120640" cy="269748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650" b="1">
                <a:solidFill>
                  <a:srgbClr val="12A4A8"/>
                </a:solidFill>
                <a:latin typeface="Calibri"/>
              </a:rPr>
              <a:t>•	</a:t>
            </a:r>
            <a:r>
              <a:rPr sz="1650" b="0" i="0">
                <a:solidFill>
                  <a:srgbClr val="1F2A37"/>
                </a:solidFill>
                <a:latin typeface="Calibri"/>
              </a:rPr>
              <a:t>Acidizing example: S falls from 8.55 to 2</a:t>
            </a:r>
          </a:p>
          <a:p>
            <a:pPr algn="l" marL="201168" indent="-201168">
              <a:lnSpc>
                <a:spcPct val="118000"/>
              </a:lnSpc>
              <a:spcBef>
                <a:spcPts val="0"/>
              </a:spcBef>
              <a:spcAft>
                <a:spcPts val="900"/>
              </a:spcAft>
            </a:pPr>
            <a:r>
              <a:rPr sz="1650" b="1">
                <a:solidFill>
                  <a:srgbClr val="12A4A8"/>
                </a:solidFill>
                <a:latin typeface="Calibri"/>
              </a:rPr>
              <a:t>•	</a:t>
            </a:r>
            <a:r>
              <a:rPr sz="1650" b="0" i="0">
                <a:solidFill>
                  <a:srgbClr val="1F2A37"/>
                </a:solidFill>
                <a:latin typeface="Calibri"/>
              </a:rPr>
              <a:t>Rate rises 1,910 → 3,310 STB/d</a:t>
            </a:r>
          </a:p>
          <a:p>
            <a:pPr algn="l" marL="201168" indent="-201168">
              <a:lnSpc>
                <a:spcPct val="118000"/>
              </a:lnSpc>
              <a:spcBef>
                <a:spcPts val="0"/>
              </a:spcBef>
              <a:spcAft>
                <a:spcPts val="900"/>
              </a:spcAft>
            </a:pPr>
            <a:r>
              <a:rPr sz="1650" b="1">
                <a:solidFill>
                  <a:srgbClr val="12A4A8"/>
                </a:solidFill>
                <a:latin typeface="Calibri"/>
              </a:rPr>
              <a:t>•	</a:t>
            </a:r>
            <a:r>
              <a:rPr sz="1650" b="0" i="0">
                <a:solidFill>
                  <a:srgbClr val="1F2A37"/>
                </a:solidFill>
                <a:latin typeface="Calibri"/>
              </a:rPr>
              <a:t>Payback ≈ 14 days (assumed values)</a:t>
            </a:r>
          </a:p>
          <a:p>
            <a:pPr algn="l" marL="201168" indent="-201168">
              <a:lnSpc>
                <a:spcPct val="118000"/>
              </a:lnSpc>
              <a:spcBef>
                <a:spcPts val="0"/>
              </a:spcBef>
              <a:spcAft>
                <a:spcPts val="900"/>
              </a:spcAft>
            </a:pPr>
            <a:r>
              <a:rPr sz="1650" b="1">
                <a:solidFill>
                  <a:srgbClr val="12A4A8"/>
                </a:solidFill>
                <a:latin typeface="Calibri"/>
              </a:rPr>
              <a:t>•	</a:t>
            </a:r>
            <a:r>
              <a:rPr sz="1650" b="0" i="0">
                <a:solidFill>
                  <a:srgbClr val="1F2A37"/>
                </a:solidFill>
                <a:latin typeface="Calibri"/>
              </a:rPr>
              <a:t>HSE: acid handling, flowback disposal</a:t>
            </a:r>
          </a:p>
          <a:p>
            <a:pPr algn="l" marL="201168" indent="-201168">
              <a:lnSpc>
                <a:spcPct val="118000"/>
              </a:lnSpc>
              <a:spcBef>
                <a:spcPts val="0"/>
              </a:spcBef>
              <a:spcAft>
                <a:spcPts val="900"/>
              </a:spcAft>
            </a:pPr>
            <a:r>
              <a:rPr sz="1650" b="1">
                <a:solidFill>
                  <a:srgbClr val="12A4A8"/>
                </a:solidFill>
                <a:latin typeface="Calibri"/>
              </a:rPr>
              <a:t>•	</a:t>
            </a:r>
            <a:r>
              <a:rPr sz="1650" b="0" i="0">
                <a:solidFill>
                  <a:srgbClr val="1F2A37"/>
                </a:solidFill>
                <a:latin typeface="Calibri"/>
              </a:rPr>
              <a:t>Prevention avoids both cost and risk</a:t>
            </a:r>
          </a:p>
        </p:txBody>
      </p:sp>
      <p:sp>
        <p:nvSpPr>
          <p:cNvPr id="6" name="Rectangle 5"/>
          <p:cNvSpPr/>
          <p:nvPr/>
        </p:nvSpPr>
        <p:spPr>
          <a:xfrm>
            <a:off x="530352" y="4709160"/>
            <a:ext cx="5120640" cy="1143000"/>
          </a:xfrm>
          <a:prstGeom prst="rect">
            <a:avLst/>
          </a:prstGeom>
          <a:solidFill>
            <a:srgbClr val="F2F5F9"/>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9808" y="4937760"/>
            <a:ext cx="4709160" cy="822960"/>
          </a:xfrm>
          <a:prstGeom prst="rect">
            <a:avLst/>
          </a:prstGeom>
          <a:noFill/>
        </p:spPr>
        <p:txBody>
          <a:bodyPr wrap="square" lIns="0" rIns="0" tIns="0" bIns="0" anchor="t">
            <a:spAutoFit/>
          </a:bodyPr>
          <a:lstStyle/>
          <a:p>
            <a:pPr algn="l">
              <a:lnSpc>
                <a:spcPct val="135000"/>
              </a:lnSpc>
              <a:spcBef>
                <a:spcPts val="0"/>
              </a:spcBef>
              <a:spcAft>
                <a:spcPts val="300"/>
              </a:spcAft>
            </a:pPr>
            <a:r>
              <a:rPr sz="1250" b="1" i="0">
                <a:solidFill>
                  <a:srgbClr val="5A6472"/>
                </a:solidFill>
                <a:latin typeface="Calibri"/>
              </a:rPr>
              <a:t>Assumed:</a:t>
            </a:r>
            <a:r>
              <a:rPr sz="1250" b="0" i="0">
                <a:solidFill>
                  <a:srgbClr val="5A6472"/>
                </a:solidFill>
                <a:latin typeface="Calibri"/>
              </a:rPr>
              <a:t> margin $30/bbl · 50% of gain sustained</a:t>
            </a:r>
          </a:p>
          <a:p>
            <a:pPr algn="l">
              <a:lnSpc>
                <a:spcPct val="135000"/>
              </a:lnSpc>
              <a:spcBef>
                <a:spcPts val="0"/>
              </a:spcBef>
              <a:spcAft>
                <a:spcPts val="0"/>
              </a:spcAft>
            </a:pPr>
            <a:r>
              <a:rPr sz="1250" b="0" i="0">
                <a:solidFill>
                  <a:srgbClr val="5A6472"/>
                </a:solidFill>
                <a:latin typeface="Calibri"/>
              </a:rPr>
              <a:t>job cost $300,000 · net gain ≈ $21,075/day</a:t>
            </a:r>
          </a:p>
        </p:txBody>
      </p:sp>
      <p:pic>
        <p:nvPicPr>
          <p:cNvPr id="8" name="Picture 7" descr="s20_econ.png"/>
          <p:cNvPicPr>
            <a:picLocks noChangeAspect="1"/>
          </p:cNvPicPr>
          <p:nvPr/>
        </p:nvPicPr>
        <p:blipFill>
          <a:blip r:embed="rId2"/>
          <a:stretch>
            <a:fillRect/>
          </a:stretch>
        </p:blipFill>
        <p:spPr>
          <a:xfrm>
            <a:off x="6172200" y="2148840"/>
            <a:ext cx="5486400" cy="3323946"/>
          </a:xfrm>
          <a:prstGeom prst="rect">
            <a:avLst/>
          </a:prstGeom>
        </p:spPr>
      </p:pic>
      <p:sp>
        <p:nvSpPr>
          <p:cNvPr id="9" name="TextBox 8"/>
          <p:cNvSpPr txBox="1"/>
          <p:nvPr/>
        </p:nvSpPr>
        <p:spPr>
          <a:xfrm>
            <a:off x="530352" y="6382512"/>
            <a:ext cx="10308031" cy="274320"/>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5A6472"/>
                </a:solidFill>
                <a:latin typeface="Calibri"/>
              </a:rPr>
              <a:t>Author's calculation. Economic inputs are assumptions.</a:t>
            </a:r>
          </a:p>
        </p:txBody>
      </p:sp>
      <p:sp>
        <p:nvSpPr>
          <p:cNvPr id="10" name="TextBox 9"/>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000" b="1" i="0">
                <a:solidFill>
                  <a:srgbClr val="0B2A4A"/>
                </a:solidFill>
                <a:latin typeface="Calibri"/>
              </a:rPr>
              <a:t>Next step: a skin-based screening model for drilling-fluid damage</a:t>
            </a:r>
          </a:p>
        </p:txBody>
      </p:sp>
      <p:sp>
        <p:nvSpPr>
          <p:cNvPr id="3" name="Rectangle 2"/>
          <p:cNvSpPr/>
          <p:nvPr/>
        </p:nvSpPr>
        <p:spPr>
          <a:xfrm>
            <a:off x="530352"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30352"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Fundamentals</a:t>
            </a:r>
          </a:p>
        </p:txBody>
      </p:sp>
      <p:sp>
        <p:nvSpPr>
          <p:cNvPr id="5" name="Rectangle 4"/>
          <p:cNvSpPr/>
          <p:nvPr/>
        </p:nvSpPr>
        <p:spPr>
          <a:xfrm>
            <a:off x="2807756"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2807756"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Mechanisms</a:t>
            </a:r>
          </a:p>
        </p:txBody>
      </p:sp>
      <p:sp>
        <p:nvSpPr>
          <p:cNvPr id="7" name="Rectangle 6"/>
          <p:cNvSpPr/>
          <p:nvPr/>
        </p:nvSpPr>
        <p:spPr>
          <a:xfrm>
            <a:off x="5085161"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085161"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Quantification</a:t>
            </a:r>
          </a:p>
        </p:txBody>
      </p:sp>
      <p:sp>
        <p:nvSpPr>
          <p:cNvPr id="9" name="Rectangle 8"/>
          <p:cNvSpPr/>
          <p:nvPr/>
        </p:nvSpPr>
        <p:spPr>
          <a:xfrm>
            <a:off x="7362565" y="1188720"/>
            <a:ext cx="2021372" cy="68580"/>
          </a:xfrm>
          <a:prstGeom prst="rect">
            <a:avLst/>
          </a:prstGeom>
          <a:solidFill>
            <a:srgbClr val="DFE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362565"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B9C2CC"/>
                </a:solidFill>
                <a:latin typeface="Calibri"/>
              </a:rPr>
              <a:t>Solutions</a:t>
            </a:r>
          </a:p>
        </p:txBody>
      </p:sp>
      <p:sp>
        <p:nvSpPr>
          <p:cNvPr id="11" name="Rectangle 10"/>
          <p:cNvSpPr/>
          <p:nvPr/>
        </p:nvSpPr>
        <p:spPr>
          <a:xfrm>
            <a:off x="9639970" y="1188720"/>
            <a:ext cx="2021372" cy="68580"/>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39970" y="1307592"/>
            <a:ext cx="2021372" cy="237744"/>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12A4A8"/>
                </a:solidFill>
                <a:latin typeface="Calibri"/>
              </a:rPr>
              <a:t>Next steps</a:t>
            </a:r>
          </a:p>
        </p:txBody>
      </p:sp>
      <p:cxnSp>
        <p:nvCxnSpPr>
          <p:cNvPr id="13" name="Connector 12"/>
          <p:cNvCxnSpPr/>
          <p:nvPr/>
        </p:nvCxnSpPr>
        <p:spPr>
          <a:xfrm>
            <a:off x="1541038" y="1828800"/>
            <a:ext cx="9109618" cy="0"/>
          </a:xfrm>
          <a:prstGeom prst="line">
            <a:avLst/>
          </a:prstGeom>
          <a:ln w="19050">
            <a:solidFill>
              <a:srgbClr val="B9C2CC"/>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417594" y="1705356"/>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30352" y="21031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24871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Inputs</a:t>
            </a:r>
          </a:p>
        </p:txBody>
      </p:sp>
      <p:sp>
        <p:nvSpPr>
          <p:cNvPr id="17" name="TextBox 16"/>
          <p:cNvSpPr txBox="1"/>
          <p:nvPr/>
        </p:nvSpPr>
        <p:spPr>
          <a:xfrm>
            <a:off x="640080" y="30358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k, h, k</a:t>
            </a:r>
            <a:r>
              <a:rPr sz="1250" b="0" i="0" baseline="-25000">
                <a:solidFill>
                  <a:srgbClr val="5A6472"/>
                </a:solidFill>
                <a:latin typeface="Calibri"/>
              </a:rPr>
              <a:t>s</a:t>
            </a:r>
            <a:r>
              <a:rPr sz="1250" b="0" i="0">
                <a:solidFill>
                  <a:srgbClr val="5A6472"/>
                </a:solidFill>
                <a:latin typeface="Calibri"/>
              </a:rPr>
              <a:t>, r</a:t>
            </a:r>
            <a:r>
              <a:rPr sz="1250" b="0" i="0" baseline="-25000">
                <a:solidFill>
                  <a:srgbClr val="5A6472"/>
                </a:solidFill>
                <a:latin typeface="Calibri"/>
              </a:rPr>
              <a:t>s</a:t>
            </a:r>
            <a:r>
              <a:rPr sz="1250" b="0" i="0">
                <a:solidFill>
                  <a:srgbClr val="5A6472"/>
                </a:solidFill>
                <a:latin typeface="Calibri"/>
              </a:rPr>
              <a:t>, drawdown</a:t>
            </a:r>
          </a:p>
        </p:txBody>
      </p:sp>
      <p:sp>
        <p:nvSpPr>
          <p:cNvPr id="18" name="Oval 17"/>
          <p:cNvSpPr/>
          <p:nvPr/>
        </p:nvSpPr>
        <p:spPr>
          <a:xfrm>
            <a:off x="3694998" y="1705356"/>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2807756" y="21031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917484" y="24871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Skin</a:t>
            </a:r>
          </a:p>
        </p:txBody>
      </p:sp>
      <p:sp>
        <p:nvSpPr>
          <p:cNvPr id="21" name="TextBox 20"/>
          <p:cNvSpPr txBox="1"/>
          <p:nvPr/>
        </p:nvSpPr>
        <p:spPr>
          <a:xfrm>
            <a:off x="2917484" y="30358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Hawkins equation</a:t>
            </a:r>
          </a:p>
        </p:txBody>
      </p:sp>
      <p:sp>
        <p:nvSpPr>
          <p:cNvPr id="22" name="Oval 21"/>
          <p:cNvSpPr/>
          <p:nvPr/>
        </p:nvSpPr>
        <p:spPr>
          <a:xfrm>
            <a:off x="5972403" y="1705356"/>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5085161" y="21031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194889" y="24871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Productivity</a:t>
            </a:r>
          </a:p>
        </p:txBody>
      </p:sp>
      <p:sp>
        <p:nvSpPr>
          <p:cNvPr id="25" name="TextBox 24"/>
          <p:cNvSpPr txBox="1"/>
          <p:nvPr/>
        </p:nvSpPr>
        <p:spPr>
          <a:xfrm>
            <a:off x="5194889" y="30358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q and FE</a:t>
            </a:r>
          </a:p>
        </p:txBody>
      </p:sp>
      <p:sp>
        <p:nvSpPr>
          <p:cNvPr id="26" name="Oval 25"/>
          <p:cNvSpPr/>
          <p:nvPr/>
        </p:nvSpPr>
        <p:spPr>
          <a:xfrm>
            <a:off x="8249808" y="1705356"/>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7362565" y="21031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72293" y="24871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Economics</a:t>
            </a:r>
          </a:p>
        </p:txBody>
      </p:sp>
      <p:sp>
        <p:nvSpPr>
          <p:cNvPr id="29" name="TextBox 28"/>
          <p:cNvSpPr txBox="1"/>
          <p:nvPr/>
        </p:nvSpPr>
        <p:spPr>
          <a:xfrm>
            <a:off x="7472293" y="30358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Payback, net value</a:t>
            </a:r>
          </a:p>
        </p:txBody>
      </p:sp>
      <p:sp>
        <p:nvSpPr>
          <p:cNvPr id="30" name="Oval 29"/>
          <p:cNvSpPr/>
          <p:nvPr/>
        </p:nvSpPr>
        <p:spPr>
          <a:xfrm>
            <a:off x="10527212" y="1705356"/>
            <a:ext cx="246888" cy="246888"/>
          </a:xfrm>
          <a:prstGeom prst="ellipse">
            <a:avLst/>
          </a:prstGeom>
          <a:solidFill>
            <a:srgbClr val="12A4A8"/>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9639970" y="2103120"/>
            <a:ext cx="2021372" cy="19659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749698" y="2487168"/>
            <a:ext cx="1801916" cy="457200"/>
          </a:xfrm>
          <a:prstGeom prst="rect">
            <a:avLst/>
          </a:prstGeom>
          <a:noFill/>
        </p:spPr>
        <p:txBody>
          <a:bodyPr wrap="square" lIns="0" rIns="0" tIns="0" bIns="0" anchor="t">
            <a:spAutoFit/>
          </a:bodyPr>
          <a:lstStyle/>
          <a:p>
            <a:pPr algn="ctr">
              <a:lnSpc>
                <a:spcPct val="105000"/>
              </a:lnSpc>
              <a:spcBef>
                <a:spcPts val="0"/>
              </a:spcBef>
              <a:spcAft>
                <a:spcPts val="0"/>
              </a:spcAft>
            </a:pPr>
            <a:r>
              <a:rPr sz="1700" b="1" i="0">
                <a:solidFill>
                  <a:srgbClr val="0B2A4A"/>
                </a:solidFill>
                <a:latin typeface="Calibri"/>
              </a:rPr>
              <a:t>Decision</a:t>
            </a:r>
          </a:p>
        </p:txBody>
      </p:sp>
      <p:sp>
        <p:nvSpPr>
          <p:cNvPr id="33" name="TextBox 32"/>
          <p:cNvSpPr txBox="1"/>
          <p:nvPr/>
        </p:nvSpPr>
        <p:spPr>
          <a:xfrm>
            <a:off x="9749698" y="3035808"/>
            <a:ext cx="1801916" cy="914400"/>
          </a:xfrm>
          <a:prstGeom prst="rect">
            <a:avLst/>
          </a:prstGeom>
          <a:noFill/>
        </p:spPr>
        <p:txBody>
          <a:bodyPr wrap="square" lIns="0" rIns="0" tIns="0" bIns="0" anchor="t">
            <a:spAutoFit/>
          </a:bodyPr>
          <a:lstStyle/>
          <a:p>
            <a:pPr algn="ctr">
              <a:lnSpc>
                <a:spcPct val="125000"/>
              </a:lnSpc>
              <a:spcBef>
                <a:spcPts val="0"/>
              </a:spcBef>
              <a:spcAft>
                <a:spcPts val="0"/>
              </a:spcAft>
            </a:pPr>
            <a:r>
              <a:rPr sz="1250" b="0" i="0">
                <a:solidFill>
                  <a:srgbClr val="5A6472"/>
                </a:solidFill>
                <a:latin typeface="Calibri"/>
              </a:rPr>
              <a:t>Prevent, treat, or ignore</a:t>
            </a:r>
          </a:p>
        </p:txBody>
      </p:sp>
      <p:sp>
        <p:nvSpPr>
          <p:cNvPr id="34" name="TextBox 33"/>
          <p:cNvSpPr txBox="1"/>
          <p:nvPr/>
        </p:nvSpPr>
        <p:spPr>
          <a:xfrm>
            <a:off x="1417594" y="170992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1</a:t>
            </a:r>
          </a:p>
        </p:txBody>
      </p:sp>
      <p:sp>
        <p:nvSpPr>
          <p:cNvPr id="35" name="TextBox 34"/>
          <p:cNvSpPr txBox="1"/>
          <p:nvPr/>
        </p:nvSpPr>
        <p:spPr>
          <a:xfrm>
            <a:off x="3694998" y="170992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2</a:t>
            </a:r>
          </a:p>
        </p:txBody>
      </p:sp>
      <p:sp>
        <p:nvSpPr>
          <p:cNvPr id="36" name="TextBox 35"/>
          <p:cNvSpPr txBox="1"/>
          <p:nvPr/>
        </p:nvSpPr>
        <p:spPr>
          <a:xfrm>
            <a:off x="5972403" y="170992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3</a:t>
            </a:r>
          </a:p>
        </p:txBody>
      </p:sp>
      <p:sp>
        <p:nvSpPr>
          <p:cNvPr id="37" name="TextBox 36"/>
          <p:cNvSpPr txBox="1"/>
          <p:nvPr/>
        </p:nvSpPr>
        <p:spPr>
          <a:xfrm>
            <a:off x="8249808" y="170992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4</a:t>
            </a:r>
          </a:p>
        </p:txBody>
      </p:sp>
      <p:sp>
        <p:nvSpPr>
          <p:cNvPr id="38" name="TextBox 37"/>
          <p:cNvSpPr txBox="1"/>
          <p:nvPr/>
        </p:nvSpPr>
        <p:spPr>
          <a:xfrm>
            <a:off x="10527212" y="1709928"/>
            <a:ext cx="246888" cy="274320"/>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FFFFFF"/>
                </a:solidFill>
                <a:latin typeface="Calibri"/>
              </a:rPr>
              <a:t>5</a:t>
            </a:r>
          </a:p>
        </p:txBody>
      </p:sp>
      <p:sp>
        <p:nvSpPr>
          <p:cNvPr id="39" name="Rectangle 38"/>
          <p:cNvSpPr/>
          <p:nvPr/>
        </p:nvSpPr>
        <p:spPr>
          <a:xfrm>
            <a:off x="530352" y="4526280"/>
            <a:ext cx="11130991" cy="1554480"/>
          </a:xfrm>
          <a:prstGeom prst="rect">
            <a:avLst/>
          </a:prstGeom>
          <a:solidFill>
            <a:srgbClr val="F2F5F9"/>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04671" y="4709160"/>
            <a:ext cx="10582351" cy="1280160"/>
          </a:xfrm>
          <a:prstGeom prst="rect">
            <a:avLst/>
          </a:prstGeom>
          <a:noFill/>
        </p:spPr>
        <p:txBody>
          <a:bodyPr wrap="square" lIns="0" rIns="0" tIns="0" bIns="0" anchor="t">
            <a:spAutoFit/>
          </a:bodyPr>
          <a:lstStyle/>
          <a:p>
            <a:pPr algn="l">
              <a:lnSpc>
                <a:spcPct val="120000"/>
              </a:lnSpc>
              <a:spcBef>
                <a:spcPts val="0"/>
              </a:spcBef>
              <a:spcAft>
                <a:spcPts val="600"/>
              </a:spcAft>
            </a:pPr>
            <a:r>
              <a:rPr sz="1450" b="1" i="0">
                <a:solidFill>
                  <a:srgbClr val="1F2A37"/>
                </a:solidFill>
                <a:latin typeface="Calibri"/>
              </a:rPr>
              <a:t>Gap:</a:t>
            </a:r>
            <a:r>
              <a:rPr sz="1450" b="0" i="0">
                <a:solidFill>
                  <a:srgbClr val="1F2A37"/>
                </a:solidFill>
                <a:latin typeface="Calibri"/>
              </a:rPr>
              <a:t>  damage is often treated qualitatively</a:t>
            </a:r>
          </a:p>
          <a:p>
            <a:pPr algn="l">
              <a:lnSpc>
                <a:spcPct val="120000"/>
              </a:lnSpc>
              <a:spcBef>
                <a:spcPts val="0"/>
              </a:spcBef>
              <a:spcAft>
                <a:spcPts val="600"/>
              </a:spcAft>
            </a:pPr>
            <a:r>
              <a:rPr sz="1450" b="1" i="0">
                <a:solidFill>
                  <a:srgbClr val="1F2A37"/>
                </a:solidFill>
                <a:latin typeface="Calibri"/>
              </a:rPr>
              <a:t>Tools:</a:t>
            </a:r>
            <a:r>
              <a:rPr sz="1450" b="0" i="0">
                <a:solidFill>
                  <a:srgbClr val="1F2A37"/>
                </a:solidFill>
                <a:latin typeface="Calibri"/>
              </a:rPr>
              <a:t>  Excel or Python, literature return-permeability data</a:t>
            </a:r>
          </a:p>
          <a:p>
            <a:pPr algn="l">
              <a:lnSpc>
                <a:spcPct val="120000"/>
              </a:lnSpc>
              <a:spcBef>
                <a:spcPts val="0"/>
              </a:spcBef>
              <a:spcAft>
                <a:spcPts val="600"/>
              </a:spcAft>
            </a:pPr>
            <a:r>
              <a:rPr sz="1450" b="1" i="0">
                <a:solidFill>
                  <a:srgbClr val="1F2A37"/>
                </a:solidFill>
                <a:latin typeface="Calibri"/>
              </a:rPr>
              <a:t>Output:</a:t>
            </a:r>
            <a:r>
              <a:rPr sz="1450" b="0" i="0">
                <a:solidFill>
                  <a:srgbClr val="1F2A37"/>
                </a:solidFill>
                <a:latin typeface="Calibri"/>
              </a:rPr>
              <a:t>  sensitivity charts and a decision guide</a:t>
            </a:r>
          </a:p>
        </p:txBody>
      </p:sp>
      <p:sp>
        <p:nvSpPr>
          <p:cNvPr id="41" name="TextBox 40"/>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Conclusions: damage is quantifiable and largely preventable</a:t>
            </a:r>
          </a:p>
        </p:txBody>
      </p:sp>
      <p:sp>
        <p:nvSpPr>
          <p:cNvPr id="3" name="Rectangle 2"/>
          <p:cNvSpPr/>
          <p:nvPr/>
        </p:nvSpPr>
        <p:spPr>
          <a:xfrm>
            <a:off x="530352" y="2011680"/>
            <a:ext cx="3567074" cy="35661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530352" y="2011680"/>
            <a:ext cx="3567074" cy="82296"/>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58952" y="2331720"/>
            <a:ext cx="3109874" cy="411480"/>
          </a:xfrm>
          <a:prstGeom prst="rect">
            <a:avLst/>
          </a:prstGeom>
          <a:noFill/>
        </p:spPr>
        <p:txBody>
          <a:bodyPr wrap="square" lIns="0" rIns="0" tIns="0" bIns="0" anchor="t">
            <a:spAutoFit/>
          </a:bodyPr>
          <a:lstStyle/>
          <a:p>
            <a:pPr algn="l">
              <a:lnSpc>
                <a:spcPct val="120000"/>
              </a:lnSpc>
              <a:spcBef>
                <a:spcPts val="0"/>
              </a:spcBef>
              <a:spcAft>
                <a:spcPts val="0"/>
              </a:spcAft>
            </a:pPr>
            <a:r>
              <a:rPr sz="1900" b="1" i="0">
                <a:solidFill>
                  <a:srgbClr val="0B2A4A"/>
                </a:solidFill>
                <a:latin typeface="Calibri"/>
              </a:rPr>
              <a:t>1. Mechanisms</a:t>
            </a:r>
          </a:p>
        </p:txBody>
      </p:sp>
      <p:sp>
        <p:nvSpPr>
          <p:cNvPr id="6" name="TextBox 5"/>
          <p:cNvSpPr txBox="1"/>
          <p:nvPr/>
        </p:nvSpPr>
        <p:spPr>
          <a:xfrm>
            <a:off x="758952" y="2926080"/>
            <a:ext cx="3109874" cy="2331720"/>
          </a:xfrm>
          <a:prstGeom prst="rect">
            <a:avLst/>
          </a:prstGeom>
          <a:noFill/>
        </p:spPr>
        <p:txBody>
          <a:bodyPr wrap="square" lIns="0" rIns="0" tIns="0" bIns="0" anchor="t">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Invasion damages by plugging, swelling, trapping</a:t>
            </a:r>
          </a:p>
        </p:txBody>
      </p:sp>
      <p:sp>
        <p:nvSpPr>
          <p:cNvPr id="7" name="Rectangle 6"/>
          <p:cNvSpPr/>
          <p:nvPr/>
        </p:nvSpPr>
        <p:spPr>
          <a:xfrm>
            <a:off x="4312310" y="2011680"/>
            <a:ext cx="3567074" cy="35661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312310" y="2011680"/>
            <a:ext cx="3567074" cy="82296"/>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540910" y="2331720"/>
            <a:ext cx="3109874" cy="411480"/>
          </a:xfrm>
          <a:prstGeom prst="rect">
            <a:avLst/>
          </a:prstGeom>
          <a:noFill/>
        </p:spPr>
        <p:txBody>
          <a:bodyPr wrap="square" lIns="0" rIns="0" tIns="0" bIns="0" anchor="t">
            <a:spAutoFit/>
          </a:bodyPr>
          <a:lstStyle/>
          <a:p>
            <a:pPr algn="l">
              <a:lnSpc>
                <a:spcPct val="120000"/>
              </a:lnSpc>
              <a:spcBef>
                <a:spcPts val="0"/>
              </a:spcBef>
              <a:spcAft>
                <a:spcPts val="0"/>
              </a:spcAft>
            </a:pPr>
            <a:r>
              <a:rPr sz="1900" b="1" i="0">
                <a:solidFill>
                  <a:srgbClr val="0B2A4A"/>
                </a:solidFill>
                <a:latin typeface="Calibri"/>
              </a:rPr>
              <a:t>2. Quantification</a:t>
            </a:r>
          </a:p>
        </p:txBody>
      </p:sp>
      <p:sp>
        <p:nvSpPr>
          <p:cNvPr id="10" name="TextBox 9"/>
          <p:cNvSpPr txBox="1"/>
          <p:nvPr/>
        </p:nvSpPr>
        <p:spPr>
          <a:xfrm>
            <a:off x="4540910" y="2926080"/>
            <a:ext cx="3109874" cy="2331720"/>
          </a:xfrm>
          <a:prstGeom prst="rect">
            <a:avLst/>
          </a:prstGeom>
          <a:noFill/>
        </p:spPr>
        <p:txBody>
          <a:bodyPr wrap="square" lIns="0" rIns="0" tIns="0" bIns="0" anchor="t">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Example: skin 8.5 costs 55%</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Severity outweighs depth</a:t>
            </a:r>
          </a:p>
        </p:txBody>
      </p:sp>
      <p:sp>
        <p:nvSpPr>
          <p:cNvPr id="11" name="Rectangle 10"/>
          <p:cNvSpPr/>
          <p:nvPr/>
        </p:nvSpPr>
        <p:spPr>
          <a:xfrm>
            <a:off x="8094268" y="2011680"/>
            <a:ext cx="3567074" cy="3566160"/>
          </a:xfrm>
          <a:prstGeom prst="rect">
            <a:avLst/>
          </a:prstGeom>
          <a:solidFill>
            <a:srgbClr val="FFFFFF"/>
          </a:solidFill>
          <a:ln w="15875">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8094268" y="2011680"/>
            <a:ext cx="3567074" cy="82296"/>
          </a:xfrm>
          <a:prstGeom prst="rect">
            <a:avLst/>
          </a:prstGeom>
          <a:solidFill>
            <a:srgbClr val="12A4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322868" y="2331720"/>
            <a:ext cx="3109874" cy="411480"/>
          </a:xfrm>
          <a:prstGeom prst="rect">
            <a:avLst/>
          </a:prstGeom>
          <a:noFill/>
        </p:spPr>
        <p:txBody>
          <a:bodyPr wrap="square" lIns="0" rIns="0" tIns="0" bIns="0" anchor="t">
            <a:spAutoFit/>
          </a:bodyPr>
          <a:lstStyle/>
          <a:p>
            <a:pPr algn="l">
              <a:lnSpc>
                <a:spcPct val="120000"/>
              </a:lnSpc>
              <a:spcBef>
                <a:spcPts val="0"/>
              </a:spcBef>
              <a:spcAft>
                <a:spcPts val="0"/>
              </a:spcAft>
            </a:pPr>
            <a:r>
              <a:rPr sz="1900" b="1" i="0">
                <a:solidFill>
                  <a:srgbClr val="0B2A4A"/>
                </a:solidFill>
                <a:latin typeface="Calibri"/>
              </a:rPr>
              <a:t>3. Strategies</a:t>
            </a:r>
          </a:p>
        </p:txBody>
      </p:sp>
      <p:sp>
        <p:nvSpPr>
          <p:cNvPr id="14" name="TextBox 13"/>
          <p:cNvSpPr txBox="1"/>
          <p:nvPr/>
        </p:nvSpPr>
        <p:spPr>
          <a:xfrm>
            <a:off x="8322868" y="2926080"/>
            <a:ext cx="3109874" cy="2331720"/>
          </a:xfrm>
          <a:prstGeom prst="rect">
            <a:avLst/>
          </a:prstGeom>
          <a:noFill/>
        </p:spPr>
        <p:txBody>
          <a:bodyPr wrap="square" lIns="0" rIns="0" tIns="0" bIns="0" anchor="t">
            <a:spAutoFit/>
          </a:bodyPr>
          <a:lstStyle/>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Prevention beats remediation</a:t>
            </a:r>
          </a:p>
          <a:p>
            <a:pPr algn="l" marL="201168" indent="-201168">
              <a:lnSpc>
                <a:spcPct val="118000"/>
              </a:lnSpc>
              <a:spcBef>
                <a:spcPts val="0"/>
              </a:spcBef>
              <a:spcAft>
                <a:spcPts val="900"/>
              </a:spcAft>
            </a:pPr>
            <a:r>
              <a:rPr sz="1600" b="1">
                <a:solidFill>
                  <a:srgbClr val="12A4A8"/>
                </a:solidFill>
                <a:latin typeface="Calibri"/>
              </a:rPr>
              <a:t>•	</a:t>
            </a:r>
            <a:r>
              <a:rPr sz="1600" b="0" i="0">
                <a:solidFill>
                  <a:srgbClr val="1F2A37"/>
                </a:solidFill>
                <a:latin typeface="Calibri"/>
              </a:rPr>
              <a:t>Match treatment to damage type</a:t>
            </a:r>
          </a:p>
        </p:txBody>
      </p:sp>
      <p:sp>
        <p:nvSpPr>
          <p:cNvPr id="15" name="TextBox 14"/>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3200" b="1" i="0">
                <a:solidFill>
                  <a:srgbClr val="0B2A4A"/>
                </a:solidFill>
                <a:latin typeface="Calibri"/>
              </a:rPr>
              <a:t>References and questions</a:t>
            </a:r>
          </a:p>
        </p:txBody>
      </p:sp>
      <p:sp>
        <p:nvSpPr>
          <p:cNvPr id="3" name="TextBox 2"/>
          <p:cNvSpPr txBox="1"/>
          <p:nvPr/>
        </p:nvSpPr>
        <p:spPr>
          <a:xfrm>
            <a:off x="530352" y="1444752"/>
            <a:ext cx="7223760" cy="4526280"/>
          </a:xfrm>
          <a:prstGeom prst="rect">
            <a:avLst/>
          </a:prstGeom>
          <a:noFill/>
        </p:spPr>
        <p:txBody>
          <a:bodyPr wrap="square" lIns="0" rIns="0" tIns="0" bIns="0" anchor="t">
            <a:spAutoFit/>
          </a:bodyPr>
          <a:lstStyle/>
          <a:p>
            <a:pPr algn="l" marL="237744" indent="-237744">
              <a:lnSpc>
                <a:spcPct val="118000"/>
              </a:lnSpc>
              <a:spcBef>
                <a:spcPts val="0"/>
              </a:spcBef>
              <a:spcAft>
                <a:spcPts val="700"/>
              </a:spcAft>
            </a:pPr>
            <a:r>
              <a:rPr sz="1200" b="0" i="0">
                <a:solidFill>
                  <a:srgbClr val="1F2A37"/>
                </a:solidFill>
                <a:latin typeface="Calibri"/>
              </a:rPr>
              <a:t>1.	Hawkins, M.F. (1956). A note on the skin effect. Trans. AIME, 207.</a:t>
            </a:r>
          </a:p>
          <a:p>
            <a:pPr algn="l" marL="237744" indent="-237744">
              <a:lnSpc>
                <a:spcPct val="118000"/>
              </a:lnSpc>
              <a:spcBef>
                <a:spcPts val="0"/>
              </a:spcBef>
              <a:spcAft>
                <a:spcPts val="700"/>
              </a:spcAft>
            </a:pPr>
            <a:r>
              <a:rPr sz="1200" b="0" i="0">
                <a:solidFill>
                  <a:srgbClr val="1F2A37"/>
                </a:solidFill>
                <a:latin typeface="Calibri"/>
              </a:rPr>
              <a:t>2.	van Everdingen, A.F. (1953). The skin effect and its influence on the productive capacity of a well. Trans. AIME, 198.</a:t>
            </a:r>
          </a:p>
          <a:p>
            <a:pPr algn="l" marL="237744" indent="-237744">
              <a:lnSpc>
                <a:spcPct val="118000"/>
              </a:lnSpc>
              <a:spcBef>
                <a:spcPts val="0"/>
              </a:spcBef>
              <a:spcAft>
                <a:spcPts val="700"/>
              </a:spcAft>
            </a:pPr>
            <a:r>
              <a:rPr sz="1200" b="0" i="0">
                <a:solidFill>
                  <a:srgbClr val="1F2A37"/>
                </a:solidFill>
                <a:latin typeface="Calibri"/>
              </a:rPr>
              <a:t>3.	Krueger, R.F. (1986). An overview of formation damage and well productivity in oilfield operations. JPT, 38(2).</a:t>
            </a:r>
          </a:p>
          <a:p>
            <a:pPr algn="l" marL="237744" indent="-237744">
              <a:lnSpc>
                <a:spcPct val="118000"/>
              </a:lnSpc>
              <a:spcBef>
                <a:spcPts val="0"/>
              </a:spcBef>
              <a:spcAft>
                <a:spcPts val="700"/>
              </a:spcAft>
            </a:pPr>
            <a:r>
              <a:rPr sz="1200" b="0" i="0">
                <a:solidFill>
                  <a:srgbClr val="1F2A37"/>
                </a:solidFill>
                <a:latin typeface="Calibri"/>
              </a:rPr>
              <a:t>4.	Abrams, A. (1977). Mud design to minimize rock impairment due to particle invasion. JPT, 29(5).</a:t>
            </a:r>
          </a:p>
          <a:p>
            <a:pPr algn="l" marL="237744" indent="-237744">
              <a:lnSpc>
                <a:spcPct val="118000"/>
              </a:lnSpc>
              <a:spcBef>
                <a:spcPts val="0"/>
              </a:spcBef>
              <a:spcAft>
                <a:spcPts val="700"/>
              </a:spcAft>
            </a:pPr>
            <a:r>
              <a:rPr sz="1200" b="0" i="0">
                <a:solidFill>
                  <a:srgbClr val="1F2A37"/>
                </a:solidFill>
                <a:latin typeface="Calibri"/>
              </a:rPr>
              <a:t>5.	Earlougher, R.C. (1977). Advances in Well Test Analysis. SPE Monograph 5.</a:t>
            </a:r>
          </a:p>
          <a:p>
            <a:pPr algn="l" marL="237744" indent="-237744">
              <a:lnSpc>
                <a:spcPct val="118000"/>
              </a:lnSpc>
              <a:spcBef>
                <a:spcPts val="0"/>
              </a:spcBef>
              <a:spcAft>
                <a:spcPts val="700"/>
              </a:spcAft>
            </a:pPr>
            <a:r>
              <a:rPr sz="1200" b="0" i="0">
                <a:solidFill>
                  <a:srgbClr val="1F2A37"/>
                </a:solidFill>
                <a:latin typeface="Calibri"/>
              </a:rPr>
              <a:t>6.	Civan, F. Reservoir Formation Damage. Gulf Professional Publishing.</a:t>
            </a:r>
          </a:p>
          <a:p>
            <a:pPr algn="l" marL="237744" indent="-237744">
              <a:lnSpc>
                <a:spcPct val="118000"/>
              </a:lnSpc>
              <a:spcBef>
                <a:spcPts val="0"/>
              </a:spcBef>
              <a:spcAft>
                <a:spcPts val="700"/>
              </a:spcAft>
            </a:pPr>
            <a:r>
              <a:rPr sz="1200" b="0" i="0">
                <a:solidFill>
                  <a:srgbClr val="1F2A37"/>
                </a:solidFill>
                <a:latin typeface="Calibri"/>
              </a:rPr>
              <a:t>7.	Economides, M.J. et al. Petroleum Production Systems. Prentice Hall.</a:t>
            </a:r>
          </a:p>
          <a:p>
            <a:pPr algn="l" marL="237744" indent="-237744">
              <a:lnSpc>
                <a:spcPct val="118000"/>
              </a:lnSpc>
              <a:spcBef>
                <a:spcPts val="0"/>
              </a:spcBef>
              <a:spcAft>
                <a:spcPts val="700"/>
              </a:spcAft>
            </a:pPr>
            <a:r>
              <a:rPr sz="1200" b="0" i="0">
                <a:solidFill>
                  <a:srgbClr val="1F2A37"/>
                </a:solidFill>
                <a:latin typeface="Calibri"/>
              </a:rPr>
              <a:t>8.	Bourgoyne, A.T. et al. (1986). Applied Drilling Engineering. SPE.</a:t>
            </a:r>
          </a:p>
          <a:p>
            <a:pPr algn="l">
              <a:lnSpc>
                <a:spcPct val="118000"/>
              </a:lnSpc>
              <a:spcBef>
                <a:spcPts val="0"/>
              </a:spcBef>
              <a:spcAft>
                <a:spcPts val="700"/>
              </a:spcAft>
            </a:pPr>
          </a:p>
        </p:txBody>
      </p:sp>
      <p:cxnSp>
        <p:nvCxnSpPr>
          <p:cNvPr id="4" name="Connector 3"/>
          <p:cNvCxnSpPr/>
          <p:nvPr/>
        </p:nvCxnSpPr>
        <p:spPr>
          <a:xfrm>
            <a:off x="8092440" y="1444752"/>
            <a:ext cx="0" cy="4453128"/>
          </a:xfrm>
          <a:prstGeom prst="line">
            <a:avLst/>
          </a:prstGeom>
          <a:ln w="15875">
            <a:solidFill>
              <a:srgbClr val="DCE3E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458200" y="2331720"/>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3400" b="1" i="0">
                <a:solidFill>
                  <a:srgbClr val="0B2A4A"/>
                </a:solidFill>
                <a:latin typeface="Calibri"/>
              </a:rPr>
              <a:t>Thank you.</a:t>
            </a:r>
          </a:p>
        </p:txBody>
      </p:sp>
      <p:sp>
        <p:nvSpPr>
          <p:cNvPr id="6" name="TextBox 5"/>
          <p:cNvSpPr txBox="1"/>
          <p:nvPr/>
        </p:nvSpPr>
        <p:spPr>
          <a:xfrm>
            <a:off x="8458200" y="3017520"/>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3400" b="1" i="0">
                <a:solidFill>
                  <a:srgbClr val="0E7C7C"/>
                </a:solidFill>
                <a:latin typeface="Calibri"/>
              </a:rPr>
              <a:t>Questions?</a:t>
            </a:r>
          </a:p>
        </p:txBody>
      </p:sp>
      <p:sp>
        <p:nvSpPr>
          <p:cNvPr id="7" name="TextBox 6"/>
          <p:cNvSpPr txBox="1"/>
          <p:nvPr/>
        </p:nvSpPr>
        <p:spPr>
          <a:xfrm>
            <a:off x="8458200" y="3931920"/>
            <a:ext cx="3291840" cy="365760"/>
          </a:xfrm>
          <a:prstGeom prst="rect">
            <a:avLst/>
          </a:prstGeom>
          <a:noFill/>
        </p:spPr>
        <p:txBody>
          <a:bodyPr wrap="square" lIns="0" rIns="0" tIns="0" bIns="0" anchor="t">
            <a:spAutoFit/>
          </a:bodyPr>
          <a:lstStyle/>
          <a:p>
            <a:pPr algn="l">
              <a:lnSpc>
                <a:spcPct val="120000"/>
              </a:lnSpc>
              <a:spcBef>
                <a:spcPts val="0"/>
              </a:spcBef>
              <a:spcAft>
                <a:spcPts val="0"/>
              </a:spcAft>
            </a:pPr>
          </a:p>
        </p:txBody>
      </p:sp>
      <p:sp>
        <p:nvSpPr>
          <p:cNvPr id="8" name="TextBox 7"/>
          <p:cNvSpPr txBox="1"/>
          <p:nvPr/>
        </p:nvSpPr>
        <p:spPr>
          <a:xfrm>
            <a:off x="530352" y="5989320"/>
            <a:ext cx="7223760" cy="548640"/>
          </a:xfrm>
          <a:prstGeom prst="rect">
            <a:avLst/>
          </a:prstGeom>
          <a:noFill/>
        </p:spPr>
        <p:txBody>
          <a:bodyPr wrap="square" lIns="0" rIns="0" tIns="0" bIns="0" anchor="t">
            <a:spAutoFit/>
          </a:bodyPr>
          <a:lstStyle/>
          <a:p>
            <a:pPr algn="l">
              <a:lnSpc>
                <a:spcPct val="125000"/>
              </a:lnSpc>
              <a:spcBef>
                <a:spcPts val="0"/>
              </a:spcBef>
              <a:spcAft>
                <a:spcPts val="0"/>
              </a:spcAft>
            </a:pPr>
            <a:r>
              <a:rPr sz="1100" b="0" i="1">
                <a:solidFill>
                  <a:srgbClr val="5A6472"/>
                </a:solidFill>
                <a:latin typeface="Calibri"/>
              </a:rPr>
              <a:t>Verify every reference in your library (volume, pages, editions) before submitting.</a:t>
            </a:r>
          </a:p>
        </p:txBody>
      </p:sp>
      <p:sp>
        <p:nvSpPr>
          <p:cNvPr id="9" name="TextBox 8"/>
          <p:cNvSpPr txBox="1"/>
          <p:nvPr/>
        </p:nvSpPr>
        <p:spPr>
          <a:xfrm>
            <a:off x="11323015"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B2A4A"/>
                </a:solidFill>
                <a:latin typeface="Calibri"/>
              </a:rPr>
              <a:t>Backup: Hawkins' formula comes from series radial resistances</a:t>
            </a:r>
          </a:p>
        </p:txBody>
      </p:sp>
      <p:sp>
        <p:nvSpPr>
          <p:cNvPr id="3" name="Rectangle 2"/>
          <p:cNvSpPr/>
          <p:nvPr/>
        </p:nvSpPr>
        <p:spPr>
          <a:xfrm>
            <a:off x="530352" y="1691640"/>
            <a:ext cx="11130991" cy="3749039"/>
          </a:xfrm>
          <a:prstGeom prst="rect">
            <a:avLst/>
          </a:prstGeom>
          <a:solidFill>
            <a:srgbClr val="EAF1F6"/>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987552" y="1965960"/>
            <a:ext cx="10216591" cy="3291840"/>
          </a:xfrm>
          <a:prstGeom prst="rect">
            <a:avLst/>
          </a:prstGeom>
          <a:noFill/>
        </p:spPr>
        <p:txBody>
          <a:bodyPr wrap="square" lIns="0" rIns="0" tIns="0" bIns="0" anchor="t">
            <a:spAutoFit/>
          </a:bodyPr>
          <a:lstStyle/>
          <a:p>
            <a:pPr algn="l">
              <a:lnSpc>
                <a:spcPct val="120000"/>
              </a:lnSpc>
              <a:spcBef>
                <a:spcPts val="0"/>
              </a:spcBef>
              <a:spcAft>
                <a:spcPts val="2200"/>
              </a:spcAft>
            </a:pPr>
            <a:r>
              <a:rPr sz="1700" b="1" i="0">
                <a:solidFill>
                  <a:srgbClr val="0B2A4A"/>
                </a:solidFill>
                <a:latin typeface="Calibri"/>
              </a:rPr>
              <a:t>Damaged zone:</a:t>
            </a:r>
            <a:r>
              <a:rPr sz="1700" b="0" i="0">
                <a:solidFill>
                  <a:srgbClr val="0B2A4A"/>
                </a:solidFill>
                <a:latin typeface="Calibri"/>
              </a:rPr>
              <a:t>   </a:t>
            </a:r>
            <a:r>
              <a:rPr sz="2000" b="0" i="0">
                <a:solidFill>
                  <a:srgbClr val="1F2A37"/>
                </a:solidFill>
                <a:latin typeface="Calibri"/>
              </a:rPr>
              <a:t>Δp</a:t>
            </a:r>
            <a:r>
              <a:rPr sz="2000" b="0" i="0" baseline="-25000">
                <a:solidFill>
                  <a:srgbClr val="1F2A37"/>
                </a:solidFill>
                <a:latin typeface="Calibri"/>
              </a:rPr>
              <a:t>s</a:t>
            </a:r>
            <a:r>
              <a:rPr sz="2000" b="0" i="0">
                <a:solidFill>
                  <a:srgbClr val="1F2A37"/>
                </a:solidFill>
                <a:latin typeface="Calibri"/>
              </a:rPr>
              <a:t> = [ q B μ / (0.00708 k</a:t>
            </a:r>
            <a:r>
              <a:rPr sz="2000" b="0" i="0" baseline="-25000">
                <a:solidFill>
                  <a:srgbClr val="1F2A37"/>
                </a:solidFill>
                <a:latin typeface="Calibri"/>
              </a:rPr>
              <a:t>s</a:t>
            </a:r>
            <a:r>
              <a:rPr sz="2000" b="0" i="0">
                <a:solidFill>
                  <a:srgbClr val="1F2A37"/>
                </a:solidFill>
                <a:latin typeface="Calibri"/>
              </a:rPr>
              <a:t> h) ] ln(r</a:t>
            </a:r>
            <a:r>
              <a:rPr sz="2000" b="0" i="0" baseline="-25000">
                <a:solidFill>
                  <a:srgbClr val="1F2A37"/>
                </a:solidFill>
                <a:latin typeface="Calibri"/>
              </a:rPr>
              <a:t>s</a:t>
            </a:r>
            <a:r>
              <a:rPr sz="2000" b="0" i="0">
                <a:solidFill>
                  <a:srgbClr val="1F2A37"/>
                </a:solidFill>
                <a:latin typeface="Calibri"/>
              </a:rPr>
              <a:t>/r</a:t>
            </a:r>
            <a:r>
              <a:rPr sz="2000" b="0" i="0" baseline="-25000">
                <a:solidFill>
                  <a:srgbClr val="1F2A37"/>
                </a:solidFill>
                <a:latin typeface="Calibri"/>
              </a:rPr>
              <a:t>w</a:t>
            </a:r>
            <a:r>
              <a:rPr sz="2000" b="0" i="0">
                <a:solidFill>
                  <a:srgbClr val="1F2A37"/>
                </a:solidFill>
                <a:latin typeface="Calibri"/>
              </a:rPr>
              <a:t>)</a:t>
            </a:r>
          </a:p>
          <a:p>
            <a:pPr algn="l">
              <a:lnSpc>
                <a:spcPct val="120000"/>
              </a:lnSpc>
              <a:spcBef>
                <a:spcPts val="0"/>
              </a:spcBef>
              <a:spcAft>
                <a:spcPts val="2200"/>
              </a:spcAft>
            </a:pPr>
            <a:r>
              <a:rPr sz="1700" b="1" i="0">
                <a:solidFill>
                  <a:srgbClr val="0B2A4A"/>
                </a:solidFill>
                <a:latin typeface="Calibri"/>
              </a:rPr>
              <a:t>Undamaged zone:</a:t>
            </a:r>
            <a:r>
              <a:rPr sz="1700" b="0" i="0">
                <a:solidFill>
                  <a:srgbClr val="0B2A4A"/>
                </a:solidFill>
                <a:latin typeface="Calibri"/>
              </a:rPr>
              <a:t>   </a:t>
            </a:r>
            <a:r>
              <a:rPr sz="2000" b="0" i="0">
                <a:solidFill>
                  <a:srgbClr val="1F2A37"/>
                </a:solidFill>
                <a:latin typeface="Calibri"/>
              </a:rPr>
              <a:t>Δp</a:t>
            </a:r>
            <a:r>
              <a:rPr sz="2000" b="0" i="0" baseline="-25000">
                <a:solidFill>
                  <a:srgbClr val="1F2A37"/>
                </a:solidFill>
                <a:latin typeface="Calibri"/>
              </a:rPr>
              <a:t>u</a:t>
            </a:r>
            <a:r>
              <a:rPr sz="2000" b="0" i="0">
                <a:solidFill>
                  <a:srgbClr val="1F2A37"/>
                </a:solidFill>
                <a:latin typeface="Calibri"/>
              </a:rPr>
              <a:t> = [ q B μ / (0.00708 k h) ] [ ln(r</a:t>
            </a:r>
            <a:r>
              <a:rPr sz="2000" b="0" i="0" baseline="-25000">
                <a:solidFill>
                  <a:srgbClr val="1F2A37"/>
                </a:solidFill>
                <a:latin typeface="Calibri"/>
              </a:rPr>
              <a:t>e</a:t>
            </a:r>
            <a:r>
              <a:rPr sz="2000" b="0" i="0">
                <a:solidFill>
                  <a:srgbClr val="1F2A37"/>
                </a:solidFill>
                <a:latin typeface="Calibri"/>
              </a:rPr>
              <a:t>/r</a:t>
            </a:r>
            <a:r>
              <a:rPr sz="2000" b="0" i="0" baseline="-25000">
                <a:solidFill>
                  <a:srgbClr val="1F2A37"/>
                </a:solidFill>
                <a:latin typeface="Calibri"/>
              </a:rPr>
              <a:t>s</a:t>
            </a:r>
            <a:r>
              <a:rPr sz="2000" b="0" i="0">
                <a:solidFill>
                  <a:srgbClr val="1F2A37"/>
                </a:solidFill>
                <a:latin typeface="Calibri"/>
              </a:rPr>
              <a:t>) − 0.75 ]</a:t>
            </a:r>
          </a:p>
          <a:p>
            <a:pPr algn="l">
              <a:lnSpc>
                <a:spcPct val="120000"/>
              </a:lnSpc>
              <a:spcBef>
                <a:spcPts val="0"/>
              </a:spcBef>
              <a:spcAft>
                <a:spcPts val="2200"/>
              </a:spcAft>
            </a:pPr>
            <a:r>
              <a:rPr sz="1700" b="1" i="0">
                <a:solidFill>
                  <a:srgbClr val="0B2A4A"/>
                </a:solidFill>
                <a:latin typeface="Calibri"/>
              </a:rPr>
              <a:t>Sum:</a:t>
            </a:r>
            <a:r>
              <a:rPr sz="1700" b="0" i="0">
                <a:solidFill>
                  <a:srgbClr val="0B2A4A"/>
                </a:solidFill>
                <a:latin typeface="Calibri"/>
              </a:rPr>
              <a:t>   </a:t>
            </a:r>
            <a:r>
              <a:rPr sz="2000" b="0" i="0">
                <a:solidFill>
                  <a:srgbClr val="1F2A37"/>
                </a:solidFill>
                <a:latin typeface="Calibri"/>
              </a:rPr>
              <a:t>ln(r</a:t>
            </a:r>
            <a:r>
              <a:rPr sz="2000" b="0" i="0" baseline="-25000">
                <a:solidFill>
                  <a:srgbClr val="1F2A37"/>
                </a:solidFill>
                <a:latin typeface="Calibri"/>
              </a:rPr>
              <a:t>e</a:t>
            </a:r>
            <a:r>
              <a:rPr sz="2000" b="0" i="0">
                <a:solidFill>
                  <a:srgbClr val="1F2A37"/>
                </a:solidFill>
                <a:latin typeface="Calibri"/>
              </a:rPr>
              <a:t>/r</a:t>
            </a:r>
            <a:r>
              <a:rPr sz="2000" b="0" i="0" baseline="-25000">
                <a:solidFill>
                  <a:srgbClr val="1F2A37"/>
                </a:solidFill>
                <a:latin typeface="Calibri"/>
              </a:rPr>
              <a:t>w</a:t>
            </a:r>
            <a:r>
              <a:rPr sz="2000" b="0" i="0">
                <a:solidFill>
                  <a:srgbClr val="1F2A37"/>
                </a:solidFill>
                <a:latin typeface="Calibri"/>
              </a:rPr>
              <a:t>) − 0.75 + (k/k</a:t>
            </a:r>
            <a:r>
              <a:rPr sz="2000" b="0" i="0" baseline="-25000">
                <a:solidFill>
                  <a:srgbClr val="1F2A37"/>
                </a:solidFill>
                <a:latin typeface="Calibri"/>
              </a:rPr>
              <a:t>s</a:t>
            </a:r>
            <a:r>
              <a:rPr sz="2000" b="0" i="0">
                <a:solidFill>
                  <a:srgbClr val="1F2A37"/>
                </a:solidFill>
                <a:latin typeface="Calibri"/>
              </a:rPr>
              <a:t> − 1) ln(r</a:t>
            </a:r>
            <a:r>
              <a:rPr sz="2000" b="0" i="0" baseline="-25000">
                <a:solidFill>
                  <a:srgbClr val="1F2A37"/>
                </a:solidFill>
                <a:latin typeface="Calibri"/>
              </a:rPr>
              <a:t>s</a:t>
            </a:r>
            <a:r>
              <a:rPr sz="2000" b="0" i="0">
                <a:solidFill>
                  <a:srgbClr val="1F2A37"/>
                </a:solidFill>
                <a:latin typeface="Calibri"/>
              </a:rPr>
              <a:t>/r</a:t>
            </a:r>
            <a:r>
              <a:rPr sz="2000" b="0" i="0" baseline="-25000">
                <a:solidFill>
                  <a:srgbClr val="1F2A37"/>
                </a:solidFill>
                <a:latin typeface="Calibri"/>
              </a:rPr>
              <a:t>w</a:t>
            </a:r>
            <a:r>
              <a:rPr sz="2000" b="0" i="0">
                <a:solidFill>
                  <a:srgbClr val="1F2A37"/>
                </a:solidFill>
                <a:latin typeface="Calibri"/>
              </a:rPr>
              <a:t>)</a:t>
            </a:r>
          </a:p>
          <a:p>
            <a:pPr algn="l">
              <a:lnSpc>
                <a:spcPct val="120000"/>
              </a:lnSpc>
              <a:spcBef>
                <a:spcPts val="0"/>
              </a:spcBef>
              <a:spcAft>
                <a:spcPts val="2200"/>
              </a:spcAft>
            </a:pPr>
            <a:r>
              <a:rPr sz="1700" b="1" i="0">
                <a:solidFill>
                  <a:srgbClr val="0B2A4A"/>
                </a:solidFill>
                <a:latin typeface="Calibri"/>
              </a:rPr>
              <a:t>Skin term:</a:t>
            </a:r>
            <a:r>
              <a:rPr sz="1700" b="0" i="0">
                <a:solidFill>
                  <a:srgbClr val="0B2A4A"/>
                </a:solidFill>
                <a:latin typeface="Calibri"/>
              </a:rPr>
              <a:t>   </a:t>
            </a:r>
            <a:r>
              <a:rPr sz="2000" b="1" i="0">
                <a:solidFill>
                  <a:srgbClr val="D1483B"/>
                </a:solidFill>
                <a:latin typeface="Calibri"/>
              </a:rPr>
              <a:t>S</a:t>
            </a:r>
            <a:r>
              <a:rPr sz="2000" b="0" i="0">
                <a:solidFill>
                  <a:srgbClr val="1F2A37"/>
                </a:solidFill>
                <a:latin typeface="Calibri"/>
              </a:rPr>
              <a:t> = (k/k</a:t>
            </a:r>
            <a:r>
              <a:rPr sz="2000" b="0" i="0" baseline="-25000">
                <a:solidFill>
                  <a:srgbClr val="1F2A37"/>
                </a:solidFill>
                <a:latin typeface="Calibri"/>
              </a:rPr>
              <a:t>s</a:t>
            </a:r>
            <a:r>
              <a:rPr sz="2000" b="0" i="0">
                <a:solidFill>
                  <a:srgbClr val="1F2A37"/>
                </a:solidFill>
                <a:latin typeface="Calibri"/>
              </a:rPr>
              <a:t> − 1) ln(r</a:t>
            </a:r>
            <a:r>
              <a:rPr sz="2000" b="0" i="0" baseline="-25000">
                <a:solidFill>
                  <a:srgbClr val="1F2A37"/>
                </a:solidFill>
                <a:latin typeface="Calibri"/>
              </a:rPr>
              <a:t>s</a:t>
            </a:r>
            <a:r>
              <a:rPr sz="2000" b="0" i="0">
                <a:solidFill>
                  <a:srgbClr val="1F2A37"/>
                </a:solidFill>
                <a:latin typeface="Calibri"/>
              </a:rPr>
              <a:t>/r</a:t>
            </a:r>
            <a:r>
              <a:rPr sz="2000" b="0" i="0" baseline="-25000">
                <a:solidFill>
                  <a:srgbClr val="1F2A37"/>
                </a:solidFill>
                <a:latin typeface="Calibri"/>
              </a:rPr>
              <a:t>w</a:t>
            </a:r>
            <a:r>
              <a:rPr sz="2000" b="0" i="0">
                <a:solidFill>
                  <a:srgbClr val="1F2A37"/>
                </a:solidFill>
                <a:latin typeface="Calibri"/>
              </a:rPr>
              <a:t>)</a:t>
            </a:r>
          </a:p>
        </p:txBody>
      </p:sp>
      <p:sp>
        <p:nvSpPr>
          <p:cNvPr id="5" name="TextBox 4"/>
          <p:cNvSpPr txBox="1"/>
          <p:nvPr/>
        </p:nvSpPr>
        <p:spPr>
          <a:xfrm>
            <a:off x="987552" y="5623560"/>
            <a:ext cx="10216591" cy="457200"/>
          </a:xfrm>
          <a:prstGeom prst="rect">
            <a:avLst/>
          </a:prstGeom>
          <a:noFill/>
        </p:spPr>
        <p:txBody>
          <a:bodyPr wrap="square" lIns="0" rIns="0" tIns="0" bIns="0" anchor="t">
            <a:spAutoFit/>
          </a:bodyPr>
          <a:lstStyle/>
          <a:p>
            <a:pPr algn="l">
              <a:lnSpc>
                <a:spcPct val="120000"/>
              </a:lnSpc>
              <a:spcBef>
                <a:spcPts val="0"/>
              </a:spcBef>
              <a:spcAft>
                <a:spcPts val="0"/>
              </a:spcAft>
            </a:pPr>
            <a:r>
              <a:rPr sz="1300" b="0" i="1">
                <a:solidFill>
                  <a:srgbClr val="5A6472"/>
                </a:solidFill>
                <a:latin typeface="Calibri"/>
              </a:rPr>
              <a:t>Both zones are in series, so the pressure drops add — and the extra term is the skin.</a:t>
            </a:r>
          </a:p>
        </p:txBody>
      </p:sp>
      <p:sp>
        <p:nvSpPr>
          <p:cNvPr id="6" name="TextBox 5"/>
          <p:cNvSpPr txBox="1"/>
          <p:nvPr/>
        </p:nvSpPr>
        <p:spPr>
          <a:xfrm>
            <a:off x="11204143"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B1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B2A4A"/>
                </a:solidFill>
                <a:latin typeface="Calibri"/>
              </a:rPr>
              <a:t>Backup: test skin combines several effects</a:t>
            </a:r>
          </a:p>
        </p:txBody>
      </p:sp>
      <p:sp>
        <p:nvSpPr>
          <p:cNvPr id="3" name="Rectangle 2"/>
          <p:cNvSpPr/>
          <p:nvPr/>
        </p:nvSpPr>
        <p:spPr>
          <a:xfrm>
            <a:off x="530352" y="1920240"/>
            <a:ext cx="11130991" cy="1325880"/>
          </a:xfrm>
          <a:prstGeom prst="rect">
            <a:avLst/>
          </a:prstGeom>
          <a:solidFill>
            <a:srgbClr val="EAF1F6"/>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04671" y="2395728"/>
            <a:ext cx="10582351" cy="548640"/>
          </a:xfrm>
          <a:prstGeom prst="rect">
            <a:avLst/>
          </a:prstGeom>
          <a:noFill/>
        </p:spPr>
        <p:txBody>
          <a:bodyPr wrap="square" lIns="0" rIns="0" tIns="0" bIns="0" anchor="t">
            <a:spAutoFit/>
          </a:bodyPr>
          <a:lstStyle/>
          <a:p>
            <a:pPr algn="ctr">
              <a:lnSpc>
                <a:spcPct val="120000"/>
              </a:lnSpc>
              <a:spcBef>
                <a:spcPts val="0"/>
              </a:spcBef>
              <a:spcAft>
                <a:spcPts val="0"/>
              </a:spcAft>
            </a:pPr>
            <a:r>
              <a:rPr sz="2000" b="1" i="0">
                <a:solidFill>
                  <a:srgbClr val="0B2A4A"/>
                </a:solidFill>
                <a:latin typeface="Calibri"/>
              </a:rPr>
              <a:t>S</a:t>
            </a:r>
            <a:r>
              <a:rPr sz="2000" b="1" i="0" baseline="-25000">
                <a:solidFill>
                  <a:srgbClr val="0B2A4A"/>
                </a:solidFill>
                <a:latin typeface="Calibri"/>
              </a:rPr>
              <a:t>total</a:t>
            </a:r>
            <a:r>
              <a:rPr sz="2000" b="1" i="0">
                <a:solidFill>
                  <a:srgbClr val="0B2A4A"/>
                </a:solidFill>
                <a:latin typeface="Calibri"/>
              </a:rPr>
              <a:t> = S</a:t>
            </a:r>
            <a:r>
              <a:rPr sz="2000" b="1" i="0" baseline="-25000">
                <a:solidFill>
                  <a:srgbClr val="0B2A4A"/>
                </a:solidFill>
                <a:latin typeface="Calibri"/>
              </a:rPr>
              <a:t>damage</a:t>
            </a:r>
            <a:r>
              <a:rPr sz="2000" b="1" i="0">
                <a:solidFill>
                  <a:srgbClr val="0B2A4A"/>
                </a:solidFill>
                <a:latin typeface="Calibri"/>
              </a:rPr>
              <a:t> + S</a:t>
            </a:r>
            <a:r>
              <a:rPr sz="2000" b="1" i="0" baseline="-25000">
                <a:solidFill>
                  <a:srgbClr val="0B2A4A"/>
                </a:solidFill>
                <a:latin typeface="Calibri"/>
              </a:rPr>
              <a:t>perforation</a:t>
            </a:r>
            <a:r>
              <a:rPr sz="2000" b="1" i="0">
                <a:solidFill>
                  <a:srgbClr val="0B2A4A"/>
                </a:solidFill>
                <a:latin typeface="Calibri"/>
              </a:rPr>
              <a:t> + S</a:t>
            </a:r>
            <a:r>
              <a:rPr sz="2000" b="1" i="0" baseline="-25000">
                <a:solidFill>
                  <a:srgbClr val="0B2A4A"/>
                </a:solidFill>
                <a:latin typeface="Calibri"/>
              </a:rPr>
              <a:t>partial penetration</a:t>
            </a:r>
            <a:r>
              <a:rPr sz="2000" b="1" i="0">
                <a:solidFill>
                  <a:srgbClr val="0B2A4A"/>
                </a:solidFill>
                <a:latin typeface="Calibri"/>
              </a:rPr>
              <a:t> + S</a:t>
            </a:r>
            <a:r>
              <a:rPr sz="2000" b="1" i="0" baseline="-25000">
                <a:solidFill>
                  <a:srgbClr val="0B2A4A"/>
                </a:solidFill>
                <a:latin typeface="Calibri"/>
              </a:rPr>
              <a:t>deviation</a:t>
            </a:r>
            <a:r>
              <a:rPr sz="2000" b="1" i="0">
                <a:solidFill>
                  <a:srgbClr val="0B2A4A"/>
                </a:solidFill>
                <a:latin typeface="Calibri"/>
              </a:rPr>
              <a:t> + S</a:t>
            </a:r>
            <a:r>
              <a:rPr sz="2000" b="1" i="0" baseline="-25000">
                <a:solidFill>
                  <a:srgbClr val="0B2A4A"/>
                </a:solidFill>
                <a:latin typeface="Calibri"/>
              </a:rPr>
              <a:t>non-Darcy</a:t>
            </a:r>
          </a:p>
        </p:txBody>
      </p:sp>
      <p:sp>
        <p:nvSpPr>
          <p:cNvPr id="5" name="Rectangle 4"/>
          <p:cNvSpPr/>
          <p:nvPr/>
        </p:nvSpPr>
        <p:spPr>
          <a:xfrm>
            <a:off x="530352" y="3611880"/>
            <a:ext cx="11130991" cy="777240"/>
          </a:xfrm>
          <a:prstGeom prst="rect">
            <a:avLst/>
          </a:prstGeom>
          <a:solidFill>
            <a:srgbClr val="FDF3E0"/>
          </a:solidFill>
          <a:ln w="19050">
            <a:solidFill>
              <a:srgbClr val="E39A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30352" y="3794760"/>
            <a:ext cx="11130991" cy="411480"/>
          </a:xfrm>
          <a:prstGeom prst="rect">
            <a:avLst/>
          </a:prstGeom>
          <a:noFill/>
        </p:spPr>
        <p:txBody>
          <a:bodyPr wrap="square" lIns="0" rIns="0" tIns="0" bIns="0" anchor="t">
            <a:spAutoFit/>
          </a:bodyPr>
          <a:lstStyle/>
          <a:p>
            <a:pPr algn="ctr">
              <a:lnSpc>
                <a:spcPct val="120000"/>
              </a:lnSpc>
              <a:spcBef>
                <a:spcPts val="0"/>
              </a:spcBef>
              <a:spcAft>
                <a:spcPts val="0"/>
              </a:spcAft>
            </a:pPr>
            <a:r>
              <a:rPr sz="1800" b="1" i="0">
                <a:solidFill>
                  <a:srgbClr val="8C6D10"/>
                </a:solidFill>
                <a:latin typeface="Calibri"/>
              </a:rPr>
              <a:t>Only S</a:t>
            </a:r>
            <a:r>
              <a:rPr sz="1800" b="1" i="0" baseline="-25000">
                <a:solidFill>
                  <a:srgbClr val="8C6D10"/>
                </a:solidFill>
                <a:latin typeface="Calibri"/>
              </a:rPr>
              <a:t>damage</a:t>
            </a:r>
            <a:r>
              <a:rPr sz="1800" b="1" i="0">
                <a:solidFill>
                  <a:srgbClr val="8C6D10"/>
                </a:solidFill>
                <a:latin typeface="Calibri"/>
              </a:rPr>
              <a:t> is removable by damage treatment</a:t>
            </a:r>
          </a:p>
        </p:txBody>
      </p:sp>
      <p:sp>
        <p:nvSpPr>
          <p:cNvPr id="7" name="TextBox 6"/>
          <p:cNvSpPr txBox="1"/>
          <p:nvPr/>
        </p:nvSpPr>
        <p:spPr>
          <a:xfrm>
            <a:off x="530352" y="4709160"/>
            <a:ext cx="11130991" cy="457200"/>
          </a:xfrm>
          <a:prstGeom prst="rect">
            <a:avLst/>
          </a:prstGeom>
          <a:noFill/>
        </p:spPr>
        <p:txBody>
          <a:bodyPr wrap="square" lIns="0" rIns="0" tIns="0" bIns="0" anchor="t">
            <a:spAutoFit/>
          </a:bodyPr>
          <a:lstStyle/>
          <a:p>
            <a:pPr algn="ctr">
              <a:lnSpc>
                <a:spcPct val="120000"/>
              </a:lnSpc>
              <a:spcBef>
                <a:spcPts val="0"/>
              </a:spcBef>
              <a:spcAft>
                <a:spcPts val="0"/>
              </a:spcAft>
            </a:pPr>
            <a:r>
              <a:rPr sz="1400" b="0" i="1">
                <a:solidFill>
                  <a:srgbClr val="5A6472"/>
                </a:solidFill>
                <a:latin typeface="Calibri"/>
              </a:rPr>
              <a:t>A high test skin is not automatically a formation-damage problem — check completion and geometry first.</a:t>
            </a:r>
          </a:p>
        </p:txBody>
      </p:sp>
      <p:sp>
        <p:nvSpPr>
          <p:cNvPr id="8" name="TextBox 7"/>
          <p:cNvSpPr txBox="1"/>
          <p:nvPr/>
        </p:nvSpPr>
        <p:spPr>
          <a:xfrm>
            <a:off x="11204143"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B2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B2A4A"/>
                </a:solidFill>
                <a:latin typeface="Calibri"/>
              </a:rPr>
              <a:t>Backup: bridging theory sets particle size</a:t>
            </a:r>
          </a:p>
        </p:txBody>
      </p:sp>
      <p:sp>
        <p:nvSpPr>
          <p:cNvPr id="3" name="TextBox 2"/>
          <p:cNvSpPr txBox="1"/>
          <p:nvPr/>
        </p:nvSpPr>
        <p:spPr>
          <a:xfrm>
            <a:off x="530352" y="2011680"/>
            <a:ext cx="10058400" cy="237744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2000" b="1">
                <a:solidFill>
                  <a:srgbClr val="12A4A8"/>
                </a:solidFill>
                <a:latin typeface="Calibri"/>
              </a:rPr>
              <a:t>•	</a:t>
            </a:r>
            <a:r>
              <a:rPr sz="2000" b="0" i="0">
                <a:solidFill>
                  <a:srgbClr val="1F2A37"/>
                </a:solidFill>
                <a:latin typeface="Calibri"/>
              </a:rPr>
              <a:t>Median bridging particle ≈ ⅓ median pore throat</a:t>
            </a:r>
          </a:p>
          <a:p>
            <a:pPr algn="l" marL="201168" indent="-201168">
              <a:lnSpc>
                <a:spcPct val="118000"/>
              </a:lnSpc>
              <a:spcBef>
                <a:spcPts val="0"/>
              </a:spcBef>
              <a:spcAft>
                <a:spcPts val="900"/>
              </a:spcAft>
            </a:pPr>
            <a:r>
              <a:rPr sz="2000" b="1">
                <a:solidFill>
                  <a:srgbClr val="12A4A8"/>
                </a:solidFill>
                <a:latin typeface="Calibri"/>
              </a:rPr>
              <a:t>•	</a:t>
            </a:r>
            <a:r>
              <a:rPr sz="2000" b="0" i="0">
                <a:solidFill>
                  <a:srgbClr val="1F2A37"/>
                </a:solidFill>
                <a:latin typeface="Calibri"/>
              </a:rPr>
              <a:t>Bridging solids ≥ 5% by volume (Abrams)</a:t>
            </a:r>
          </a:p>
          <a:p>
            <a:pPr algn="l" marL="201168" indent="-201168">
              <a:lnSpc>
                <a:spcPct val="118000"/>
              </a:lnSpc>
              <a:spcBef>
                <a:spcPts val="0"/>
              </a:spcBef>
              <a:spcAft>
                <a:spcPts val="900"/>
              </a:spcAft>
            </a:pPr>
            <a:r>
              <a:rPr sz="2000" b="1">
                <a:solidFill>
                  <a:srgbClr val="12A4A8"/>
                </a:solidFill>
                <a:latin typeface="Calibri"/>
              </a:rPr>
              <a:t>•	</a:t>
            </a:r>
            <a:r>
              <a:rPr sz="2000" b="0" i="0">
                <a:solidFill>
                  <a:srgbClr val="1F2A37"/>
                </a:solidFill>
                <a:latin typeface="Calibri"/>
              </a:rPr>
              <a:t>Too fine: deep invasion. Too coarse: no bridge</a:t>
            </a:r>
          </a:p>
        </p:txBody>
      </p:sp>
      <p:sp>
        <p:nvSpPr>
          <p:cNvPr id="4" name="Rectangle 3"/>
          <p:cNvSpPr/>
          <p:nvPr/>
        </p:nvSpPr>
        <p:spPr>
          <a:xfrm>
            <a:off x="530352" y="4206240"/>
            <a:ext cx="11130991" cy="1097280"/>
          </a:xfrm>
          <a:prstGeom prst="rect">
            <a:avLst/>
          </a:prstGeom>
          <a:solidFill>
            <a:srgbClr val="F2F5F9"/>
          </a:solidFill>
          <a:ln w="12700">
            <a:solidFill>
              <a:srgbClr val="DCE3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04671" y="4526280"/>
            <a:ext cx="10582351" cy="548640"/>
          </a:xfrm>
          <a:prstGeom prst="rect">
            <a:avLst/>
          </a:prstGeom>
          <a:noFill/>
        </p:spPr>
        <p:txBody>
          <a:bodyPr wrap="square" lIns="0" rIns="0" tIns="0" bIns="0" anchor="t">
            <a:spAutoFit/>
          </a:bodyPr>
          <a:lstStyle/>
          <a:p>
            <a:pPr algn="l">
              <a:lnSpc>
                <a:spcPct val="120000"/>
              </a:lnSpc>
              <a:spcBef>
                <a:spcPts val="0"/>
              </a:spcBef>
              <a:spcAft>
                <a:spcPts val="0"/>
              </a:spcAft>
            </a:pPr>
            <a:r>
              <a:rPr sz="1400" b="0" i="1">
                <a:solidFill>
                  <a:srgbClr val="5A6472"/>
                </a:solidFill>
                <a:latin typeface="Calibri"/>
              </a:rPr>
              <a:t>Sizing is a balance: fine enough to form a bridge, coarse enough to stay on the wall.</a:t>
            </a:r>
          </a:p>
        </p:txBody>
      </p:sp>
      <p:sp>
        <p:nvSpPr>
          <p:cNvPr id="6" name="TextBox 5"/>
          <p:cNvSpPr txBox="1"/>
          <p:nvPr/>
        </p:nvSpPr>
        <p:spPr>
          <a:xfrm>
            <a:off x="11204143"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B3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B2A4A"/>
                </a:solidFill>
                <a:latin typeface="Calibri"/>
              </a:rPr>
              <a:t>Backup: drawdown scales rate, not flow efficiency</a:t>
            </a:r>
          </a:p>
        </p:txBody>
      </p:sp>
      <p:sp>
        <p:nvSpPr>
          <p:cNvPr id="3" name="TextBox 2"/>
          <p:cNvSpPr txBox="1"/>
          <p:nvPr/>
        </p:nvSpPr>
        <p:spPr>
          <a:xfrm>
            <a:off x="530352" y="1920240"/>
            <a:ext cx="5120640" cy="2560320"/>
          </a:xfrm>
          <a:prstGeom prst="rect">
            <a:avLst/>
          </a:prstGeom>
          <a:noFill/>
        </p:spPr>
        <p:txBody>
          <a:bodyPr wrap="square" lIns="0" rIns="0" tIns="0" bIns="0" anchor="ctr">
            <a:spAutoFit/>
          </a:bodyPr>
          <a:lstStyle/>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q scales linearly with drawdown</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FE depends only on ln(r</a:t>
            </a:r>
            <a:r>
              <a:rPr sz="1700" b="0" i="0" baseline="-25000">
                <a:solidFill>
                  <a:srgbClr val="1F2A37"/>
                </a:solidFill>
                <a:latin typeface="Calibri"/>
              </a:rPr>
              <a:t>e</a:t>
            </a:r>
            <a:r>
              <a:rPr sz="1700" b="0" i="0">
                <a:solidFill>
                  <a:srgbClr val="1F2A37"/>
                </a:solidFill>
                <a:latin typeface="Calibri"/>
              </a:rPr>
              <a:t>/r</a:t>
            </a:r>
            <a:r>
              <a:rPr sz="1700" b="0" i="0" baseline="-25000">
                <a:solidFill>
                  <a:srgbClr val="1F2A37"/>
                </a:solidFill>
                <a:latin typeface="Calibri"/>
              </a:rPr>
              <a:t>w</a:t>
            </a:r>
            <a:r>
              <a:rPr sz="1700" b="0" i="0">
                <a:solidFill>
                  <a:srgbClr val="1F2A37"/>
                </a:solidFill>
                <a:latin typeface="Calibri"/>
              </a:rPr>
              <a:t>) − 0.75 and S</a:t>
            </a:r>
          </a:p>
          <a:p>
            <a:pPr algn="l" marL="201168" indent="-201168">
              <a:lnSpc>
                <a:spcPct val="118000"/>
              </a:lnSpc>
              <a:spcBef>
                <a:spcPts val="0"/>
              </a:spcBef>
              <a:spcAft>
                <a:spcPts val="900"/>
              </a:spcAft>
            </a:pPr>
            <a:r>
              <a:rPr sz="1700" b="1">
                <a:solidFill>
                  <a:srgbClr val="12A4A8"/>
                </a:solidFill>
                <a:latin typeface="Calibri"/>
              </a:rPr>
              <a:t>•	</a:t>
            </a:r>
            <a:r>
              <a:rPr sz="1700" b="0" i="0">
                <a:solidFill>
                  <a:srgbClr val="1F2A37"/>
                </a:solidFill>
                <a:latin typeface="Calibri"/>
              </a:rPr>
              <a:t>Relative loss is independent of drawdown</a:t>
            </a:r>
          </a:p>
        </p:txBody>
      </p:sp>
      <p:pic>
        <p:nvPicPr>
          <p:cNvPr id="4" name="Picture 3" descr="b4_drawdown.png"/>
          <p:cNvPicPr>
            <a:picLocks noChangeAspect="1"/>
          </p:cNvPicPr>
          <p:nvPr/>
        </p:nvPicPr>
        <p:blipFill>
          <a:blip r:embed="rId2"/>
          <a:stretch>
            <a:fillRect/>
          </a:stretch>
        </p:blipFill>
        <p:spPr>
          <a:xfrm>
            <a:off x="6263640" y="1874519"/>
            <a:ext cx="5394960" cy="3050476"/>
          </a:xfrm>
          <a:prstGeom prst="rect">
            <a:avLst/>
          </a:prstGeom>
        </p:spPr>
      </p:pic>
      <p:sp>
        <p:nvSpPr>
          <p:cNvPr id="5" name="TextBox 4"/>
          <p:cNvSpPr txBox="1"/>
          <p:nvPr/>
        </p:nvSpPr>
        <p:spPr>
          <a:xfrm>
            <a:off x="11204143"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B4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30352" y="310896"/>
            <a:ext cx="11130991" cy="914400"/>
          </a:xfrm>
          <a:prstGeom prst="rect">
            <a:avLst/>
          </a:prstGeom>
          <a:noFill/>
        </p:spPr>
        <p:txBody>
          <a:bodyPr wrap="square" lIns="0" rIns="0" tIns="0" bIns="0" anchor="t">
            <a:spAutoFit/>
          </a:bodyPr>
          <a:lstStyle/>
          <a:p>
            <a:pPr algn="l">
              <a:lnSpc>
                <a:spcPct val="102000"/>
              </a:lnSpc>
              <a:spcBef>
                <a:spcPts val="0"/>
              </a:spcBef>
              <a:spcAft>
                <a:spcPts val="0"/>
              </a:spcAft>
            </a:pPr>
            <a:r>
              <a:rPr sz="2700" b="1" i="0">
                <a:solidFill>
                  <a:srgbClr val="0B2A4A"/>
                </a:solidFill>
                <a:latin typeface="Calibri"/>
              </a:rPr>
              <a:t>Backup: fluid comparison (qualitative)</a:t>
            </a:r>
          </a:p>
        </p:txBody>
      </p:sp>
      <p:graphicFrame>
        <p:nvGraphicFramePr>
          <p:cNvPr id="3" name="Table 2"/>
          <p:cNvGraphicFramePr>
            <a:graphicFrameLocks noGrp="1"/>
          </p:cNvGraphicFramePr>
          <p:nvPr/>
        </p:nvGraphicFramePr>
        <p:xfrm>
          <a:off x="530352" y="1965960"/>
          <a:ext cx="11128248" cy="3429000"/>
        </p:xfrm>
        <a:graphic>
          <a:graphicData uri="http://schemas.openxmlformats.org/drawingml/2006/table">
            <a:tbl>
              <a:tblPr firstRow="1">
                <a:tableStyleId>{5C22544A-7EE6-4342-B048-85BDC9FD1C3A}</a:tableStyleId>
              </a:tblPr>
              <a:tblGrid>
                <a:gridCol w="3108960"/>
                <a:gridCol w="3840480"/>
                <a:gridCol w="4178808"/>
              </a:tblGrid>
              <a:tr h="502920">
                <a:tc>
                  <a:txBody>
                    <a:bodyPr wrap="square"/>
                    <a:lstStyle/>
                    <a:p>
                      <a:pPr>
                        <a:lnSpc>
                          <a:spcPct val="105000"/>
                        </a:lnSpc>
                      </a:pPr>
                      <a:r>
                        <a:rPr sz="1450" b="1" i="0">
                          <a:solidFill>
                            <a:srgbClr val="FFFFFF"/>
                          </a:solidFill>
                          <a:latin typeface="Calibri"/>
                        </a:rPr>
                        <a:t>Fluid</a:t>
                      </a:r>
                    </a:p>
                  </a:txBody>
                  <a:tcPr marL="91440" marR="73152" marT="41148" marB="41148" anchor="ctr">
                    <a:solidFill>
                      <a:srgbClr val="0B2A4A"/>
                    </a:solidFill>
                  </a:tcPr>
                </a:tc>
                <a:tc>
                  <a:txBody>
                    <a:bodyPr wrap="square"/>
                    <a:lstStyle/>
                    <a:p>
                      <a:pPr>
                        <a:lnSpc>
                          <a:spcPct val="105000"/>
                        </a:lnSpc>
                      </a:pPr>
                      <a:r>
                        <a:rPr sz="1450" b="1" i="0">
                          <a:solidFill>
                            <a:srgbClr val="FFFFFF"/>
                          </a:solidFill>
                          <a:latin typeface="Calibri"/>
                        </a:rPr>
                        <a:t>Main advantage</a:t>
                      </a:r>
                    </a:p>
                  </a:txBody>
                  <a:tcPr marL="91440" marR="73152" marT="41148" marB="41148" anchor="ctr">
                    <a:solidFill>
                      <a:srgbClr val="0B2A4A"/>
                    </a:solidFill>
                  </a:tcPr>
                </a:tc>
                <a:tc>
                  <a:txBody>
                    <a:bodyPr wrap="square"/>
                    <a:lstStyle/>
                    <a:p>
                      <a:pPr>
                        <a:lnSpc>
                          <a:spcPct val="105000"/>
                        </a:lnSpc>
                      </a:pPr>
                      <a:r>
                        <a:rPr sz="1450" b="1" i="0">
                          <a:solidFill>
                            <a:srgbClr val="FFFFFF"/>
                          </a:solidFill>
                          <a:latin typeface="Calibri"/>
                        </a:rPr>
                        <a:t>Main damage risk</a:t>
                      </a:r>
                    </a:p>
                  </a:txBody>
                  <a:tcPr marL="91440" marR="73152" marT="41148" marB="41148" anchor="ctr">
                    <a:solidFill>
                      <a:srgbClr val="0B2A4A"/>
                    </a:solidFill>
                  </a:tcPr>
                </a:tc>
              </a:tr>
              <a:tr h="731520">
                <a:tc>
                  <a:txBody>
                    <a:bodyPr wrap="square"/>
                    <a:lstStyle/>
                    <a:p>
                      <a:pPr>
                        <a:lnSpc>
                          <a:spcPct val="105000"/>
                        </a:lnSpc>
                      </a:pPr>
                      <a:r>
                        <a:rPr sz="1450" b="1" i="0">
                          <a:solidFill>
                            <a:srgbClr val="0B2A4A"/>
                          </a:solidFill>
                          <a:latin typeface="Calibri"/>
                        </a:rPr>
                        <a:t>Water-based</a:t>
                      </a:r>
                    </a:p>
                  </a:txBody>
                  <a:tcPr marL="91440" marR="73152" marT="41148" marB="41148" anchor="ctr">
                    <a:solidFill>
                      <a:srgbClr val="FFFFFF"/>
                    </a:solidFill>
                  </a:tcPr>
                </a:tc>
                <a:tc>
                  <a:txBody>
                    <a:bodyPr wrap="square"/>
                    <a:lstStyle/>
                    <a:p>
                      <a:pPr>
                        <a:lnSpc>
                          <a:spcPct val="105000"/>
                        </a:lnSpc>
                      </a:pPr>
                      <a:r>
                        <a:rPr sz="1450" b="0" i="0">
                          <a:solidFill>
                            <a:srgbClr val="1F2A37"/>
                          </a:solidFill>
                          <a:latin typeface="Calibri"/>
                        </a:rPr>
                        <a:t>Low cost</a:t>
                      </a:r>
                    </a:p>
                  </a:txBody>
                  <a:tcPr marL="91440" marR="73152" marT="41148" marB="41148" anchor="ctr">
                    <a:solidFill>
                      <a:srgbClr val="FFFFFF"/>
                    </a:solidFill>
                  </a:tcPr>
                </a:tc>
                <a:tc>
                  <a:txBody>
                    <a:bodyPr wrap="square"/>
                    <a:lstStyle/>
                    <a:p>
                      <a:pPr>
                        <a:lnSpc>
                          <a:spcPct val="105000"/>
                        </a:lnSpc>
                      </a:pPr>
                      <a:r>
                        <a:rPr sz="1450" b="0" i="0">
                          <a:solidFill>
                            <a:srgbClr val="1F2A37"/>
                          </a:solidFill>
                          <a:latin typeface="Calibri"/>
                        </a:rPr>
                        <a:t>Clay swelling, water block</a:t>
                      </a:r>
                    </a:p>
                  </a:txBody>
                  <a:tcPr marL="91440" marR="73152" marT="41148" marB="41148" anchor="ctr">
                    <a:solidFill>
                      <a:srgbClr val="FFFFFF"/>
                    </a:solidFill>
                  </a:tcPr>
                </a:tc>
              </a:tr>
              <a:tr h="731520">
                <a:tc>
                  <a:txBody>
                    <a:bodyPr wrap="square"/>
                    <a:lstStyle/>
                    <a:p>
                      <a:pPr>
                        <a:lnSpc>
                          <a:spcPct val="105000"/>
                        </a:lnSpc>
                      </a:pPr>
                      <a:r>
                        <a:rPr sz="1450" b="1" i="0">
                          <a:solidFill>
                            <a:srgbClr val="0B2A4A"/>
                          </a:solidFill>
                          <a:latin typeface="Calibri"/>
                        </a:rPr>
                        <a:t>Oil-based</a:t>
                      </a:r>
                    </a:p>
                  </a:txBody>
                  <a:tcPr marL="91440" marR="73152" marT="41148" marB="41148" anchor="ctr">
                    <a:solidFill>
                      <a:srgbClr val="F2F5F9"/>
                    </a:solidFill>
                  </a:tcPr>
                </a:tc>
                <a:tc>
                  <a:txBody>
                    <a:bodyPr wrap="square"/>
                    <a:lstStyle/>
                    <a:p>
                      <a:pPr>
                        <a:lnSpc>
                          <a:spcPct val="105000"/>
                        </a:lnSpc>
                      </a:pPr>
                      <a:r>
                        <a:rPr sz="1450" b="0" i="0">
                          <a:solidFill>
                            <a:srgbClr val="1F2A37"/>
                          </a:solidFill>
                          <a:latin typeface="Calibri"/>
                        </a:rPr>
                        <a:t>Shale inhibition</a:t>
                      </a:r>
                    </a:p>
                  </a:txBody>
                  <a:tcPr marL="91440" marR="73152" marT="41148" marB="41148" anchor="ctr">
                    <a:solidFill>
                      <a:srgbClr val="F2F5F9"/>
                    </a:solidFill>
                  </a:tcPr>
                </a:tc>
                <a:tc>
                  <a:txBody>
                    <a:bodyPr wrap="square"/>
                    <a:lstStyle/>
                    <a:p>
                      <a:pPr>
                        <a:lnSpc>
                          <a:spcPct val="105000"/>
                        </a:lnSpc>
                      </a:pPr>
                      <a:r>
                        <a:rPr sz="1450" b="0" i="0">
                          <a:solidFill>
                            <a:srgbClr val="1F2A37"/>
                          </a:solidFill>
                          <a:latin typeface="Calibri"/>
                        </a:rPr>
                        <a:t>Wettability change, emulsions</a:t>
                      </a:r>
                    </a:p>
                  </a:txBody>
                  <a:tcPr marL="91440" marR="73152" marT="41148" marB="41148" anchor="ctr">
                    <a:solidFill>
                      <a:srgbClr val="F2F5F9"/>
                    </a:solidFill>
                  </a:tcPr>
                </a:tc>
              </a:tr>
              <a:tr h="731520">
                <a:tc>
                  <a:txBody>
                    <a:bodyPr wrap="square"/>
                    <a:lstStyle/>
                    <a:p>
                      <a:pPr>
                        <a:lnSpc>
                          <a:spcPct val="105000"/>
                        </a:lnSpc>
                      </a:pPr>
                      <a:r>
                        <a:rPr sz="1450" b="1" i="0">
                          <a:solidFill>
                            <a:srgbClr val="0B2A4A"/>
                          </a:solidFill>
                          <a:latin typeface="Calibri"/>
                        </a:rPr>
                        <a:t>Formate brine</a:t>
                      </a:r>
                    </a:p>
                  </a:txBody>
                  <a:tcPr marL="91440" marR="73152" marT="41148" marB="41148" anchor="ctr">
                    <a:solidFill>
                      <a:srgbClr val="FFFFFF"/>
                    </a:solidFill>
                  </a:tcPr>
                </a:tc>
                <a:tc>
                  <a:txBody>
                    <a:bodyPr wrap="square"/>
                    <a:lstStyle/>
                    <a:p>
                      <a:pPr>
                        <a:lnSpc>
                          <a:spcPct val="105000"/>
                        </a:lnSpc>
                      </a:pPr>
                      <a:r>
                        <a:rPr sz="1450" b="0" i="0">
                          <a:solidFill>
                            <a:srgbClr val="1F2A37"/>
                          </a:solidFill>
                          <a:latin typeface="Calibri"/>
                        </a:rPr>
                        <a:t>Low solids</a:t>
                      </a:r>
                    </a:p>
                  </a:txBody>
                  <a:tcPr marL="91440" marR="73152" marT="41148" marB="41148" anchor="ctr">
                    <a:solidFill>
                      <a:srgbClr val="FFFFFF"/>
                    </a:solidFill>
                  </a:tcPr>
                </a:tc>
                <a:tc>
                  <a:txBody>
                    <a:bodyPr wrap="square"/>
                    <a:lstStyle/>
                    <a:p>
                      <a:pPr>
                        <a:lnSpc>
                          <a:spcPct val="105000"/>
                        </a:lnSpc>
                      </a:pPr>
                      <a:r>
                        <a:rPr sz="1450" b="0" i="0">
                          <a:solidFill>
                            <a:srgbClr val="1F2A37"/>
                          </a:solidFill>
                          <a:latin typeface="Calibri"/>
                        </a:rPr>
                        <a:t>High cost</a:t>
                      </a:r>
                    </a:p>
                  </a:txBody>
                  <a:tcPr marL="91440" marR="73152" marT="41148" marB="41148" anchor="ctr">
                    <a:solidFill>
                      <a:srgbClr val="FFFFFF"/>
                    </a:solidFill>
                  </a:tcPr>
                </a:tc>
              </a:tr>
              <a:tr h="731520">
                <a:tc>
                  <a:txBody>
                    <a:bodyPr wrap="square"/>
                    <a:lstStyle/>
                    <a:p>
                      <a:pPr>
                        <a:lnSpc>
                          <a:spcPct val="105000"/>
                        </a:lnSpc>
                      </a:pPr>
                      <a:r>
                        <a:rPr sz="1450" b="1" i="0">
                          <a:solidFill>
                            <a:srgbClr val="0B2A4A"/>
                          </a:solidFill>
                          <a:latin typeface="Calibri"/>
                        </a:rPr>
                        <a:t>Polymer + CaCO</a:t>
                      </a:r>
                      <a:r>
                        <a:rPr sz="1450" b="1" i="0" baseline="-25000">
                          <a:solidFill>
                            <a:srgbClr val="0B2A4A"/>
                          </a:solidFill>
                          <a:latin typeface="Calibri"/>
                        </a:rPr>
                        <a:t>3</a:t>
                      </a:r>
                    </a:p>
                  </a:txBody>
                  <a:tcPr marL="91440" marR="73152" marT="41148" marB="41148" anchor="ctr">
                    <a:solidFill>
                      <a:srgbClr val="F2F5F9"/>
                    </a:solidFill>
                  </a:tcPr>
                </a:tc>
                <a:tc>
                  <a:txBody>
                    <a:bodyPr wrap="square"/>
                    <a:lstStyle/>
                    <a:p>
                      <a:pPr>
                        <a:lnSpc>
                          <a:spcPct val="105000"/>
                        </a:lnSpc>
                      </a:pPr>
                      <a:r>
                        <a:rPr sz="1450" b="0" i="0">
                          <a:solidFill>
                            <a:srgbClr val="1F2A37"/>
                          </a:solidFill>
                          <a:latin typeface="Calibri"/>
                        </a:rPr>
                        <a:t>Thin, acid-soluble cake</a:t>
                      </a:r>
                    </a:p>
                  </a:txBody>
                  <a:tcPr marL="91440" marR="73152" marT="41148" marB="41148" anchor="ctr">
                    <a:solidFill>
                      <a:srgbClr val="F2F5F9"/>
                    </a:solidFill>
                  </a:tcPr>
                </a:tc>
                <a:tc>
                  <a:txBody>
                    <a:bodyPr wrap="square"/>
                    <a:lstStyle/>
                    <a:p>
                      <a:pPr>
                        <a:lnSpc>
                          <a:spcPct val="105000"/>
                        </a:lnSpc>
                      </a:pPr>
                      <a:r>
                        <a:rPr sz="1450" b="0" i="0">
                          <a:solidFill>
                            <a:srgbClr val="1F2A37"/>
                          </a:solidFill>
                          <a:latin typeface="Calibri"/>
                        </a:rPr>
                        <a:t>Polymer residue</a:t>
                      </a:r>
                    </a:p>
                  </a:txBody>
                  <a:tcPr marL="91440" marR="73152" marT="41148" marB="41148" anchor="ctr">
                    <a:solidFill>
                      <a:srgbClr val="F2F5F9"/>
                    </a:solidFill>
                  </a:tcPr>
                </a:tc>
              </a:tr>
            </a:tbl>
          </a:graphicData>
        </a:graphic>
      </p:graphicFrame>
      <p:sp>
        <p:nvSpPr>
          <p:cNvPr id="4" name="TextBox 3"/>
          <p:cNvSpPr txBox="1"/>
          <p:nvPr/>
        </p:nvSpPr>
        <p:spPr>
          <a:xfrm>
            <a:off x="530352" y="5349240"/>
            <a:ext cx="11130991" cy="457200"/>
          </a:xfrm>
          <a:prstGeom prst="rect">
            <a:avLst/>
          </a:prstGeom>
          <a:noFill/>
        </p:spPr>
        <p:txBody>
          <a:bodyPr wrap="square" lIns="0" rIns="0" tIns="0" bIns="0" anchor="t">
            <a:spAutoFit/>
          </a:bodyPr>
          <a:lstStyle/>
          <a:p>
            <a:pPr algn="l">
              <a:lnSpc>
                <a:spcPct val="120000"/>
              </a:lnSpc>
              <a:spcBef>
                <a:spcPts val="0"/>
              </a:spcBef>
              <a:spcAft>
                <a:spcPts val="0"/>
              </a:spcAft>
            </a:pPr>
            <a:r>
              <a:rPr sz="1300" b="0" i="1">
                <a:solidFill>
                  <a:srgbClr val="5A6472"/>
                </a:solidFill>
                <a:latin typeface="Calibri"/>
              </a:rPr>
              <a:t>Check this table against your course notes. The risks depend on the formation.</a:t>
            </a:r>
          </a:p>
        </p:txBody>
      </p:sp>
      <p:sp>
        <p:nvSpPr>
          <p:cNvPr id="5" name="TextBox 4"/>
          <p:cNvSpPr txBox="1"/>
          <p:nvPr/>
        </p:nvSpPr>
        <p:spPr>
          <a:xfrm>
            <a:off x="11204143" y="6382512"/>
            <a:ext cx="457200" cy="274320"/>
          </a:xfrm>
          <a:prstGeom prst="rect">
            <a:avLst/>
          </a:prstGeom>
          <a:noFill/>
        </p:spPr>
        <p:txBody>
          <a:bodyPr wrap="square" lIns="0" rIns="0" tIns="0" bIns="0" anchor="t">
            <a:spAutoFit/>
          </a:bodyPr>
          <a:lstStyle/>
          <a:p>
            <a:pPr algn="r">
              <a:lnSpc>
                <a:spcPct val="120000"/>
              </a:lnSpc>
              <a:spcBef>
                <a:spcPts val="0"/>
              </a:spcBef>
              <a:spcAft>
                <a:spcPts val="0"/>
              </a:spcAft>
            </a:pPr>
            <a:r>
              <a:rPr sz="1100" b="1" i="0">
                <a:solidFill>
                  <a:srgbClr val="B9C2CC"/>
                </a:solidFill>
                <a:latin typeface="Calibri"/>
              </a:rPr>
              <a:t>B5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Damage During Drilling</dc:title>
  <dc:subject>Mechanisms, skin quantification and mitigation strategies — seminar deck</dc:subject>
  <dc:creator>[Your Name]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